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896112" cy="10698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011680"/>
            <a:ext cx="9144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egoe UI Semibold"/>
              </a:rPr>
              <a:t>Trexure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D4AF37"/>
                </a:solidFill>
                <a:latin typeface="Segoe UI Semibold"/>
              </a:rPr>
              <a:t>Unified Treasury Layer for Stellar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FC3E0"/>
                </a:solidFill>
                <a:latin typeface="Segoe UI"/>
              </a:rPr>
              <a:t>Private payments and audit-ready reports — built for corporates and freelancers on Stellar.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12064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138927"/>
            <a:ext cx="3063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  <a:latin typeface="Consolas"/>
              </a:rPr>
              <a:t>PRIVATE  PAYMENTS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512064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5138927"/>
            <a:ext cx="3063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  <a:latin typeface="Consolas"/>
              </a:rPr>
              <a:t>OFF-RAMP  RECONCILED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51206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5138927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  <a:latin typeface="Consolas"/>
              </a:rPr>
              <a:t>AUDIT-READY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8FB0"/>
                </a:solidFill>
                <a:latin typeface="Consolas"/>
              </a:rPr>
              <a:t>Product deck v4  ·  Built on Stellar / Soroban  ·  Artisan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Segoe UI Semibol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025"/>
                </a:solidFill>
                <a:latin typeface="Segoe UI Semibold"/>
              </a:rPr>
              <a:t>Wallet payments leak everything you'd never share.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3392424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3392424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95728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025"/>
                </a:solidFill>
                <a:latin typeface="Segoe UI Semibold"/>
              </a:rPr>
              <a:t>PUBLIC 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284378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B4A70"/>
                </a:solidFill>
                <a:latin typeface="Segoe UI"/>
              </a:rPr>
              <a:t>Payments land in a wallet anyone can inspect. On a public ledger, every amount and counterparty is out in the open.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2103120"/>
            <a:ext cx="3392424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2103120"/>
            <a:ext cx="3392424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2395728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788920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025"/>
                </a:solidFill>
                <a:latin typeface="Segoe UI Semibold"/>
              </a:rPr>
              <a:t>SALARIES EXPOSED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3291840"/>
            <a:ext cx="284378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B4A70"/>
                </a:solidFill>
                <a:latin typeface="Segoe UI"/>
              </a:rPr>
              <a:t>Your co-worker can see your salary — and you can see theirs. Payroll on a public chain is a non-starter.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2103120"/>
            <a:ext cx="3392424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2103120"/>
            <a:ext cx="3392424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395728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025"/>
                </a:solidFill>
                <a:latin typeface="Segoe UI Semibold"/>
              </a:rPr>
              <a:t>ACCOUNTING HEADACHE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91840"/>
            <a:ext cx="284378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B4A70"/>
                </a:solidFill>
                <a:latin typeface="Segoe UI"/>
              </a:rPr>
              <a:t>From the company's side, matching on-chain flows back to the books for audit is a manual, error-prone hassle.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Layer for Stellar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4A70"/>
                </a:solidFill>
                <a:latin typeface="Consolas"/>
              </a:rPr>
              <a:t>01</a:t>
            </a:r>
          </a:p>
        </p:txBody>
      </p:sp>
      <p:pic>
        <p:nvPicPr>
          <p:cNvPr id="21" name="Picture 2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457200"/>
            <a:ext cx="310896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Segoe UI Semibold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025"/>
                </a:solidFill>
                <a:latin typeface="Segoe UI Semibold"/>
              </a:rPr>
              <a:t>One layer: private to pay, reconciled to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B4A70"/>
                </a:solidFill>
                <a:latin typeface="Segoe UI"/>
              </a:rPr>
              <a:t>Trexure makes a payment private on-chain, off-ramps it to fiat, and turns the whole flow into an accountant-ready receipt.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39242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E44AD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99232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025"/>
                </a:solidFill>
                <a:latin typeface="Segoe UI Semibold"/>
              </a:rPr>
              <a:t>PRIVATE PAYMENTS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520440"/>
            <a:ext cx="82296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284378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B4A70"/>
                </a:solidFill>
                <a:latin typeface="Segoe UI"/>
              </a:rPr>
              <a:t>Shielded transfers with a Batch feature — ideal for payroll. Amounts and recipients stay private on the ledger.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331720"/>
            <a:ext cx="339242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2606040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E44AD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999232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025"/>
                </a:solidFill>
                <a:latin typeface="Segoe UI Semibold"/>
              </a:rPr>
              <a:t>OFF-RAMP · PDAX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72584" y="3520440"/>
            <a:ext cx="82296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3703320"/>
            <a:ext cx="284378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B4A70"/>
                </a:solidFill>
                <a:latin typeface="Segoe UI"/>
              </a:rPr>
              <a:t>Cash out to fiat via PDAX and automatically reconcile the on-chain leg against the settlement.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2331720"/>
            <a:ext cx="339242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606040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E44AD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999232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025"/>
                </a:solidFill>
                <a:latin typeface="Segoe UI Semibold"/>
              </a:rPr>
              <a:t>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7888" y="3520440"/>
            <a:ext cx="82296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3703320"/>
            <a:ext cx="284378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B4A70"/>
                </a:solidFill>
                <a:latin typeface="Segoe UI"/>
              </a:rPr>
              <a:t>Accounting- and audit-ready output: FX, fees, references — exportable as JSON + PDF.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Layer for Stellar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4A70"/>
                </a:solidFill>
                <a:latin typeface="Consolas"/>
              </a:rPr>
              <a:t>02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457200"/>
            <a:ext cx="310896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Segoe UI Semibold"/>
              </a:rPr>
              <a:t>DEMO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025"/>
                </a:solidFill>
                <a:latin typeface="Segoe UI Semibold"/>
              </a:rPr>
              <a:t>Send a private payment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43032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CBBE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303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8FB0"/>
                </a:solidFill>
                <a:latin typeface="Consolas"/>
              </a:rPr>
              <a:t>[  screenshot / recording placeholder 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B4A70"/>
                </a:solidFill>
                <a:latin typeface="Segoe UI"/>
              </a:rPr>
              <a:t>Create a payment (single or batch) — the ledger shows only a commitment, not who or how much.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Layer for Stellar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4A70"/>
                </a:solidFill>
                <a:latin typeface="Consolas"/>
              </a:rPr>
              <a:t>03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457200"/>
            <a:ext cx="310896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Segoe UI Semibold"/>
              </a:rPr>
              <a:t>DEMO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025"/>
                </a:solidFill>
                <a:latin typeface="Segoe UI Semibold"/>
              </a:rPr>
              <a:t>Claim &amp; off-ramp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43032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CBBE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303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8FB0"/>
                </a:solidFill>
                <a:latin typeface="Consolas"/>
              </a:rPr>
              <a:t>[  screenshot / recording placeholder 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B4A70"/>
                </a:solidFill>
                <a:latin typeface="Segoe UI"/>
              </a:rPr>
              <a:t>Recipient claims via wallet or bank; Trexure off-ramps through PDAX and reconciles the legs.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Layer for Stellar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4A70"/>
                </a:solidFill>
                <a:latin typeface="Consolas"/>
              </a:rPr>
              <a:t>04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457200"/>
            <a:ext cx="310896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Segoe UI Semibold"/>
              </a:rPr>
              <a:t>DEMO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025"/>
                </a:solidFill>
                <a:latin typeface="Segoe UI Semibold"/>
              </a:rPr>
              <a:t>Generate the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43032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CBBE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303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8FB0"/>
                </a:solidFill>
                <a:latin typeface="Consolas"/>
              </a:rPr>
              <a:t>[  screenshot / recording placeholder 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B4A70"/>
                </a:solidFill>
                <a:latin typeface="Segoe UI"/>
              </a:rPr>
              <a:t>One reconciled payment becomes an audit-ready receipt: FX, fees, references — JSON + PDF.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Layer for Stellar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4A70"/>
                </a:solidFill>
                <a:latin typeface="Consolas"/>
              </a:rPr>
              <a:t>05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457200"/>
            <a:ext cx="310896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Segoe UI Semibold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025"/>
                </a:solidFill>
                <a:latin typeface="Segoe UI Semibold"/>
              </a:rPr>
              <a:t>End-to-end, from payment to receipt.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43032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CBBE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303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A8FB0"/>
                </a:solidFill>
                <a:latin typeface="Consolas"/>
              </a:rPr>
              <a:t>[  screenshot / recording placeholder 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B4A70"/>
                </a:solidFill>
                <a:latin typeface="Segoe UI"/>
              </a:rPr>
              <a:t>Architecture / sequence walkthrough — shield → decrypt → off-ramp → reconcile → receipt.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Layer for Stellar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4A70"/>
                </a:solidFill>
                <a:latin typeface="Consolas"/>
              </a:rPr>
              <a:t>06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457200"/>
            <a:ext cx="310896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Segoe UI Semibold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025"/>
                </a:solidFill>
                <a:latin typeface="Segoe UI Semibold"/>
              </a:rPr>
              <a:t>Compliance and privacy — for companies and the network.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4709160" cy="3611880"/>
          </a:xfrm>
          <a:prstGeom prst="roundRect">
            <a:avLst>
              <a:gd name="adj" fmla="val 5000"/>
            </a:avLst>
          </a:prstGeom>
          <a:solidFill>
            <a:srgbClr val="F5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82296" cy="36118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Segoe UI Semibold"/>
              </a:rPr>
              <a:t>FOR COMPANIES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4160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A1025"/>
                </a:solidFill>
                <a:latin typeface="Segoe UI Semibold"/>
              </a:rPr>
              <a:t>Compliance and privacy,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14800"/>
            <a:ext cx="4160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4A70"/>
                </a:solidFill>
                <a:latin typeface="Segoe UI"/>
              </a:rPr>
              <a:t>Pay privately by default, then disclose selectively when finance or an auditor needs proof. The chain disappears behind a familiar treasury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847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8A5A00"/>
                </a:solidFill>
                <a:latin typeface="Segoe UI Semibold"/>
              </a:rPr>
              <a:t>FOR STELLAR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2148840"/>
            <a:ext cx="2761488" cy="1709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440" y="2148840"/>
            <a:ext cx="2761488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7607" y="2368296"/>
            <a:ext cx="23591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025"/>
                </a:solidFill>
                <a:latin typeface="Segoe UI Semibold"/>
              </a:rPr>
              <a:t>Unlocks enterprise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7607" y="2862072"/>
            <a:ext cx="2359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4A70"/>
                </a:solidFill>
                <a:latin typeface="Segoe UI"/>
              </a:rPr>
              <a:t>Makes Stellar viable for payroll and vendor payouts at real-world 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50808" y="2148840"/>
            <a:ext cx="2761488" cy="1709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50808" y="2148840"/>
            <a:ext cx="2761488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1976" y="2368296"/>
            <a:ext cx="23591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025"/>
                </a:solidFill>
                <a:latin typeface="Segoe UI Semibold"/>
              </a:rPr>
              <a:t>Privacy +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1976" y="2862072"/>
            <a:ext cx="2359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4A70"/>
                </a:solidFill>
                <a:latin typeface="Segoe UI"/>
              </a:rPr>
              <a:t>Selective disclosure: private to the public, provable to the auditor.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4041648"/>
            <a:ext cx="2761488" cy="1709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4041648"/>
            <a:ext cx="2761488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7" y="4261104"/>
            <a:ext cx="23591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025"/>
                </a:solidFill>
                <a:latin typeface="Segoe UI Semibold"/>
              </a:rPr>
              <a:t>Onboards non-crypto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4754880"/>
            <a:ext cx="2359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4A70"/>
                </a:solidFill>
                <a:latin typeface="Segoe UI"/>
              </a:rPr>
              <a:t>A Stripe-style API + receipts abstracts the chain for finance teams.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50808" y="4041648"/>
            <a:ext cx="2761488" cy="1709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50808" y="4041648"/>
            <a:ext cx="2761488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1976" y="4261104"/>
            <a:ext cx="23591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025"/>
                </a:solidFill>
                <a:latin typeface="Segoe UI Semibold"/>
              </a:rPr>
              <a:t>Amplifies USDC &amp; anchors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4754880"/>
            <a:ext cx="2359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4A70"/>
                </a:solidFill>
                <a:latin typeface="Segoe UI"/>
              </a:rPr>
              <a:t>Every settled payment moves value through Stellar anchors and assets.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Layer for Stellar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4A70"/>
                </a:solidFill>
                <a:latin typeface="Consolas"/>
              </a:rPr>
              <a:t>07</a:t>
            </a:r>
          </a:p>
        </p:txBody>
      </p:sp>
      <p:pic>
        <p:nvPicPr>
          <p:cNvPr id="28" name="Picture 2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457200"/>
            <a:ext cx="310896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Segoe UI Semibold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025"/>
                </a:solidFill>
                <a:latin typeface="Segoe UI Semibold"/>
              </a:rPr>
              <a:t>From hackathon build to production treasury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105430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40280"/>
            <a:ext cx="82296" cy="8412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8A5A00"/>
                </a:solidFill>
                <a:latin typeface="Consolas"/>
              </a:rPr>
              <a:t>NOW ·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240280"/>
            <a:ext cx="75895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5B4A70"/>
                </a:solidFill>
                <a:latin typeface="Segoe UI"/>
              </a:rPr>
              <a:t>Private payments + batch · wallet &amp; bank claim paths · mock PDAX off-ramp · reconciliation +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82696"/>
            <a:ext cx="105430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282696"/>
            <a:ext cx="82296" cy="84124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82696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Consolas"/>
              </a:rPr>
              <a:t>0–3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82696"/>
            <a:ext cx="75895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5B4A70"/>
                </a:solidFill>
                <a:latin typeface="Segoe UI"/>
              </a:rPr>
              <a:t>Real PDAX off-ramp integration · mainnet-ready · accounting exports (QuickBooks / Xero).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325112"/>
            <a:ext cx="105430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325112"/>
            <a:ext cx="82296" cy="84124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25112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Consolas"/>
              </a:rPr>
              <a:t>3–6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325112"/>
            <a:ext cx="75895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5B4A70"/>
                </a:solidFill>
                <a:latin typeface="Segoe UI"/>
              </a:rPr>
              <a:t>Confidential balances · FX quotes &amp; routing · selective-disclosure audit 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67528"/>
            <a:ext cx="105430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367528"/>
            <a:ext cx="82296" cy="84124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367528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8E44AD"/>
                </a:solidFill>
                <a:latin typeface="Consolas"/>
              </a:rPr>
              <a:t>6–12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367528"/>
            <a:ext cx="75895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5B4A70"/>
                </a:solidFill>
                <a:latin typeface="Segoe UI"/>
              </a:rPr>
              <a:t>Enterprise (SSO / RBAC / SLA) · batch payroll at scale · PayFi financing against a proven receipt.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Layer for Stellar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4A70"/>
                </a:solidFill>
                <a:latin typeface="Consolas"/>
              </a:rPr>
              <a:t>08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457200"/>
            <a:ext cx="310896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D4AF37"/>
                </a:solidFill>
                <a:latin typeface="Segoe UI Semibold"/>
              </a:rPr>
              <a:t>TEAM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1371600" cy="1636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23160" y="23317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 Semibold"/>
              </a:rPr>
              <a:t>Mark Hugh Neri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31546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C3E0"/>
                </a:solidFill>
                <a:latin typeface="Segoe UI"/>
              </a:rPr>
              <a:t>Founder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41448" y="3749039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41448" y="3767327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  <a:latin typeface="Consolas"/>
              </a:rPr>
              <a:t>ARTISAN 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8FB0"/>
                </a:solidFill>
                <a:latin typeface="Consolas"/>
              </a:rPr>
              <a:t>Building the unified treasury layer for Stellar — private in, receipt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