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OPENER (15s). 'Trexure makes private business payments work on Stellar — and, crucially, keeps them reconcilable and reportable.' One line on who we are, then: 'I'll show the problem, the live product, our impact on Stellar, exactly which ecosystem pieces we plug into, and how we go to market from the Philippines outward.' Keep energy high; the demo and the ecosystem-fit slides are the two things judges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(30s). Use the Manila BPO example — it grounds the Philippines GTM later. The insight judges should take away: privacy tools exist, but they overshoot and break the payer's OWN books and compliance. Say the line: 'This is why real companies don't run payroll on public chains yet.' That gap is the whole business.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SOLUTION / DEMO CUE (40s). Walk the four beats — this is where you switch to the live demo or the recorded video if time allows. Emphasize beat 3 (reconciliation) is the part everyone hand-rolls and we ship, and beat 4 is what makes finance teams say yes. If demoing live: log in, open the sample payment, Apply View Key, Trigger Payout -&gt; Settled, open the receipt, then Verify Proof On-Chain for the technical judges.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MOAT (25s). The one-liner at the bottom is the whole pitch — say it verbatim. Pre-empt the obvious question: 'Isn't this just a privacy coin?' No — the moat is the COMBINATION with reconciliation and an accountant-ready output. That combination is what turns a crypto feature into a finance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CREDIBILITY (25s). Judges reward honesty. Say plainly: 'Only the fiat anchor is mocked — and it fires the exact signed webhook a real anchor would, so everything downstream is production code.' Have a testnet tx open on stellar.expert as proof. Also note the honest scope: shielded_transfer is a commitment recorder today; value-moving privacy is the roadmap (Confidential Tokens) — never overclaim.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IMPACT ON STELLAR (35s) — key slide for an SDF/ecosystem audience. Lead with volume: 'We bring a whole category of business payments — payroll and treasury — that Stellar structurally can't serve today.' Then the compliance angle (selective disclosure) and the developer reference (our on-chain verifier). Tie the last point to Stellar's own wins: MoneyGram (~$4.2B USDC remittance) and Circle USDC — we drive utility for the exact rails SDF already champions. This slide is where you connect Trexure's success to Stellar's KPIs.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INTEGRATION PLAN (40s) — the 'we did the homework' slide. Message: 'We don't reinvent Stellar; we compose it.' Walk one item per column: P0 is SEP-31 + SEP-12 (turn the mock into a real anchor payout with KYC) — that's the funding-ready milestone. The standout is Confidential Tokens (shipped June 30 2026) — it lets us move real private value instead of hand-rolling a privacy pool, so we ride Stellar's newest primitive. DeFi column: SEP-38/Soroswap make the receipt's FX real; Blend enables PayFi financing. Full priorities and reference links are in GitHub issue #52.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GTM (40s). Tell it as a sequence, not three markets at once. PHILIPPINES is the beachhead for concrete reasons — say them: massive OFW/remittance flows, a large English-speaking BPO + freelancer workforce paid in USD, and a mature e-wallet/anchor scene (Xendit). We win one corridor (USD-&gt;PHP) end-to-end. APAC: same playbook, more corridors, ride MoneyGram/anchor coverage, and shift to embedding via payroll platforms. GLOBAL: move up-market to enterprise treasury on Confidential Tokens with compliance seats, and use SDF programs (SCF grant, CV Labs accelerator, Meridian) as distribution. Land-and-expand: each tier reuses the same product, just more corridors and bigger buyers.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PRICING (20s). Anchor on alignment: 'We only earn when a payment actually settles — our incentive is our customer's success.' Growth tier ($0.25/settled payment + $99/mo) is the land motion; Enterprise (custom) is the treasury/compliance expansion. Mention the optional FX/anchor bps take-rate as an additional, anchor-revenue-shared line once we're on real anchors.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(25s). Map milestones to the integration + GTM story so it's coherent: 0-3mo = SEP-31 anchor in the PH corridor (this makes real money move and is the SCF Build Award milestone). 3-6mo = Confidential Tokens for real private value + SEP-38/Soroswap FX + compliance seats, expanding into APAC. 6-12mo = enterprise + SDP batch payroll + PayFi on Blend, going global. Reassure: 'The hard, easy-to-fake parts are already real — what's left is integration breadth, not new invention.' Full plan: issue #52.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(15s). Land the vision line, then the ask. For judges: 'Stellar-native, ZK-private, locally reconciled — and built to plug into the ecosystem you already have.' For investors/SDF: name the ask (grant / pilot anchor partner / design customers). End on the tagline: 'Private in, receipt out — the blockchain disappears.'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12801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806364" cy="960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2103120"/>
            <a:ext cx="91440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Segoe UI Semibold"/>
              </a:rPr>
              <a:t>Trexure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383280"/>
            <a:ext cx="1042416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D4AF37"/>
                </a:solidFill>
                <a:latin typeface="Segoe UI Semibold"/>
              </a:rPr>
              <a:t>A private payment walks in. An accounting-ready receipt walks out.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CFC3E0"/>
                </a:solidFill>
                <a:latin typeface="Segoe UI"/>
              </a:rPr>
              <a:t>The unified, ZK-private treasury layer for Stellar — the blockchain disappears.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29200"/>
            <a:ext cx="2788920" cy="384048"/>
          </a:xfrm>
          <a:prstGeom prst="roundRect">
            <a:avLst>
              <a:gd name="adj" fmla="val 50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056632"/>
            <a:ext cx="278892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4AF37"/>
                </a:solidFill>
                <a:latin typeface="Consolas"/>
              </a:rPr>
              <a:t>STELLAR-NATIVE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4760" y="5029200"/>
            <a:ext cx="2423160" cy="384048"/>
          </a:xfrm>
          <a:prstGeom prst="roundRect">
            <a:avLst>
              <a:gd name="adj" fmla="val 50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5056632"/>
            <a:ext cx="242316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4AF37"/>
                </a:solidFill>
                <a:latin typeface="Consolas"/>
              </a:rPr>
              <a:t>ZK-PRIVATE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5029200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5056632"/>
            <a:ext cx="329184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4AF37"/>
                </a:solidFill>
                <a:latin typeface="Consolas"/>
              </a:rPr>
              <a:t>LOCALLY RECONCILED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8FB0"/>
                </a:solidFill>
                <a:latin typeface="Consolas"/>
              </a:rPr>
              <a:t>Investor &amp; ecosystem deck v3 · Built on Soroban (testnet) · Groth16 / BLS12-381 verified on-chain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On a public ledger, privacy is all-or-nothing.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5257800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4754880" cy="3657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E44AD"/>
                </a:solidFill>
                <a:latin typeface="Segoe UI Semibold"/>
              </a:rPr>
              <a:t>EXAMPLE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600"/>
              </a:spcAft>
            </a:pPr>
            <a:r>
              <a:rPr sz="1550" b="1">
                <a:solidFill>
                  <a:srgbClr val="1A1025"/>
                </a:solidFill>
                <a:latin typeface="Segoe UI"/>
              </a:rPr>
              <a:t>A BPO in Manila pays 40 contractors — $2,500 each in USDC on Stellar.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600"/>
              </a:spcAft>
            </a:pPr>
            <a:r>
              <a:rPr sz="1300" b="0">
                <a:solidFill>
                  <a:srgbClr val="5B4A70"/>
                </a:solidFill>
                <a:latin typeface="Segoe UI"/>
              </a:rPr>
              <a:t>By lunchtime, a competitor scraping the public ledger knows: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sz="1300" b="0">
                <a:solidFill>
                  <a:srgbClr val="1A1025"/>
                </a:solidFill>
                <a:latin typeface="Segoe UI"/>
              </a:rPr>
              <a:t>•  exactly who they pay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</a:pPr>
            <a:r>
              <a:rPr sz="1300" b="0">
                <a:solidFill>
                  <a:srgbClr val="1A1025"/>
                </a:solidFill>
                <a:latin typeface="Segoe UI"/>
              </a:rPr>
              <a:t>•  how much each person makes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</a:pPr>
            <a:r>
              <a:rPr sz="1300" b="0">
                <a:solidFill>
                  <a:srgbClr val="1A1025"/>
                </a:solidFill>
                <a:latin typeface="Segoe UI"/>
              </a:rPr>
              <a:t>•  total headcount &amp; monthly burn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  <a:spcAft>
                <a:spcPts val="600"/>
              </a:spcAft>
            </a:pPr>
            <a:r>
              <a:rPr sz="1350" b="1">
                <a:solidFill>
                  <a:srgbClr val="8A5A00"/>
                </a:solidFill>
                <a:latin typeface="Segoe UI"/>
              </a:rPr>
              <a:t>So they hide it — and now their own finance team can't reconcile or report it either.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965960"/>
            <a:ext cx="49377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148840"/>
            <a:ext cx="452628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025"/>
                </a:solidFill>
                <a:latin typeface="Segoe UI Semibold"/>
              </a:rPr>
              <a:t>FULLY PUBLIC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r>
              <a:rPr sz="1300" b="0">
                <a:solidFill>
                  <a:srgbClr val="5B4A70"/>
                </a:solidFill>
                <a:latin typeface="Segoe UI"/>
              </a:rPr>
              <a:t>Every payment exposed. A non-starter for real finance, HR, and vendor relations.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069080"/>
            <a:ext cx="49377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4251960"/>
            <a:ext cx="452628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025"/>
                </a:solidFill>
                <a:latin typeface="Segoe UI Semibold"/>
              </a:rPr>
              <a:t>FULLY SHIELDED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</a:pPr>
            <a:r>
              <a:rPr sz="1300" b="0">
                <a:solidFill>
                  <a:srgbClr val="5B4A70"/>
                </a:solidFill>
                <a:latin typeface="Segoe UI"/>
              </a:rPr>
              <a:t>Opaque even to the payer. No AML/KYC, no bookkeeping, no “hash X -&gt; deposit Y” proof.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80644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E44AD"/>
                </a:solidFill>
                <a:latin typeface="Segoe UI"/>
              </a:rPr>
              <a:t>Nothing in between reconciles private proof &lt;-&gt; real fiat.</a:t>
            </a:r>
          </a:p>
        </p:txBody>
      </p:sp>
      <p:pic>
        <p:nvPicPr>
          <p:cNvPr id="12" name="Picture 11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Private on the outside. Fully reconciled on the inside.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4A70"/>
                </a:solidFill>
                <a:latin typeface="Segoe UI"/>
              </a:rPr>
              <a:t>Trexure is a treasury API for Stellar: it shields a payment on-chain, lets only the payer decrypt it, auto-reconciles it against the fiat payout, and emits a Stripe-style receipt.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88920"/>
            <a:ext cx="2542032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788920"/>
            <a:ext cx="2542032" cy="109728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063240"/>
            <a:ext cx="2176272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800" b="1">
                <a:solidFill>
                  <a:srgbClr val="1A1025"/>
                </a:solidFill>
                <a:latin typeface="Segoe UI Semibold"/>
              </a:rPr>
              <a:t>SHIELD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Payment goes on-chain. Ledger shows a ZK commitment only — no sender, no amount.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46703" y="4114800"/>
            <a:ext cx="164592" cy="201168"/>
          </a:xfrm>
          <a:prstGeom prst="rightArrow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93008" y="2788920"/>
            <a:ext cx="2542032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93008" y="2788920"/>
            <a:ext cx="2542032" cy="109728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94176" y="3063240"/>
            <a:ext cx="2176272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800" b="1">
                <a:solidFill>
                  <a:srgbClr val="1A1025"/>
                </a:solidFill>
                <a:latin typeface="Segoe UI Semibold"/>
              </a:rPr>
              <a:t>DECRYPT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Payer applies its own view key, server-side. Audit-logged; key never leaves the server.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16752" y="4114800"/>
            <a:ext cx="164592" cy="201168"/>
          </a:xfrm>
          <a:prstGeom prst="rightArrow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63056" y="2788920"/>
            <a:ext cx="2542032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63056" y="2788920"/>
            <a:ext cx="2542032" cy="109728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3063240"/>
            <a:ext cx="2176272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800" b="1">
                <a:solidFill>
                  <a:srgbClr val="1A1025"/>
                </a:solidFill>
                <a:latin typeface="Segoe UI Semibold"/>
              </a:rPr>
              <a:t>RECONCILE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A worker matches the on-chain leg to the fiat webhook by intentId — SETTLED.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686800" y="4114800"/>
            <a:ext cx="164592" cy="201168"/>
          </a:xfrm>
          <a:prstGeom prst="rightArrow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33104" y="2788920"/>
            <a:ext cx="2542032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833104" y="2788920"/>
            <a:ext cx="2542032" cy="109728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34272" y="3063240"/>
            <a:ext cx="2176272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04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800" b="1">
                <a:solidFill>
                  <a:srgbClr val="1A1025"/>
                </a:solidFill>
                <a:latin typeface="Segoe UI Semibold"/>
              </a:rPr>
              <a:t>RECEIPT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FX, fees, slippage, both references — accounting-ready JSON + PDF.</a:t>
            </a:r>
          </a:p>
        </p:txBody>
      </p:sp>
      <p:pic>
        <p:nvPicPr>
          <p:cNvPr id="21" name="Picture 20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D4AF37"/>
                </a:solidFill>
                <a:latin typeface="Segoe UI Semibold"/>
              </a:rPr>
              <a:t>WHY WE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Three things that are hard to copy — together.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57400"/>
            <a:ext cx="3401568" cy="2651760"/>
          </a:xfrm>
          <a:prstGeom prst="roundRect">
            <a:avLst>
              <a:gd name="adj" fmla="val 6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331720"/>
            <a:ext cx="2898648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STELLAR-NATIVE</a:t>
            </a:r>
          </a:p>
          <a:p>
            <a:pPr algn="l">
              <a:lnSpc>
                <a:spcPct val="118000"/>
              </a:lnSpc>
              <a:spcBef>
                <a:spcPts val="800"/>
              </a:spcBef>
              <a:spcAft>
                <a:spcPts val="600"/>
              </a:spcAft>
            </a:pPr>
            <a:r>
              <a:rPr sz="1250" b="0">
                <a:solidFill>
                  <a:srgbClr val="CFC3E0"/>
                </a:solidFill>
                <a:latin typeface="Segoe UI"/>
              </a:rPr>
              <a:t>Real Soroban txs + a hand-written on-chain verifier. Not a DB pretending to be a chain.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2057400"/>
            <a:ext cx="3401568" cy="2651760"/>
          </a:xfrm>
          <a:prstGeom prst="roundRect">
            <a:avLst>
              <a:gd name="adj" fmla="val 6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1728" y="2331720"/>
            <a:ext cx="2898648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ZK-PRIVATE</a:t>
            </a:r>
          </a:p>
          <a:p>
            <a:pPr algn="l">
              <a:lnSpc>
                <a:spcPct val="118000"/>
              </a:lnSpc>
              <a:spcBef>
                <a:spcPts val="800"/>
              </a:spcBef>
              <a:spcAft>
                <a:spcPts val="600"/>
              </a:spcAft>
            </a:pPr>
            <a:r>
              <a:rPr sz="1250" b="0">
                <a:solidFill>
                  <a:srgbClr val="CFC3E0"/>
                </a:solidFill>
                <a:latin typeface="Segoe UI"/>
              </a:rPr>
              <a:t>A genuine Groth16 proof, verified on-chain by a BLS12-381 pairing check. Tamper -&gt; false.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2" y="2057400"/>
            <a:ext cx="3401568" cy="2651760"/>
          </a:xfrm>
          <a:prstGeom prst="roundRect">
            <a:avLst>
              <a:gd name="adj" fmla="val 6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4464" y="2331720"/>
            <a:ext cx="2898648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 Semibold"/>
              </a:rPr>
              <a:t>LOCALLY RECONCILED</a:t>
            </a:r>
          </a:p>
          <a:p>
            <a:pPr algn="l">
              <a:lnSpc>
                <a:spcPct val="118000"/>
              </a:lnSpc>
              <a:spcBef>
                <a:spcPts val="800"/>
              </a:spcBef>
              <a:spcAft>
                <a:spcPts val="600"/>
              </a:spcAft>
            </a:pPr>
            <a:r>
              <a:rPr sz="1250" b="0">
                <a:solidFill>
                  <a:srgbClr val="CFC3E0"/>
                </a:solidFill>
                <a:latin typeface="Segoe UI"/>
              </a:rPr>
              <a:t>On-chain &lt;-&gt; fiat legs auto-matched into one Stripe-style receipt an accountant trusts.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029200"/>
            <a:ext cx="10515600" cy="960120"/>
          </a:xfrm>
          <a:prstGeom prst="roundRect">
            <a:avLst>
              <a:gd name="adj" fmla="val 10000"/>
            </a:avLst>
          </a:prstGeom>
          <a:solidFill>
            <a:srgbClr val="2E1A47"/>
          </a:solidFill>
          <a:ln w="1778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138928"/>
            <a:ext cx="1005840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D4AF37"/>
                </a:solidFill>
                <a:latin typeface="Segoe UI"/>
              </a:rPr>
              <a:t>No incumbent does all three. Stripe can’t do crypto or privacy. Crypto rails can’t do local reconciliation or a receipt your accountant trusts.</a:t>
            </a:r>
          </a:p>
        </p:txBody>
      </p:sp>
      <p:pic>
        <p:nvPicPr>
          <p:cNvPr id="13" name="Picture 12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8FB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8FB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NOT A MOCKUP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The hard, easy-to-fake parts are real — today.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2231136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58568"/>
            <a:ext cx="96012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B5E20"/>
                </a:solidFill>
                <a:latin typeface="Consolas"/>
              </a:rPr>
              <a:t>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093976"/>
            <a:ext cx="2514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025"/>
                </a:solidFill>
                <a:latin typeface="Segoe UI Semibold"/>
              </a:rPr>
              <a:t>ZK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093976"/>
            <a:ext cx="626364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B4A70"/>
                </a:solidFill>
                <a:latin typeface="Segoe UI"/>
              </a:rPr>
              <a:t>Groth16 proof checked on-chain by a Soroban BLS12-381 pairing on testnet. Tampered statement -&gt; false.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80944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05840" y="3246120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273551"/>
            <a:ext cx="96012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B5E20"/>
                </a:solidFill>
                <a:latin typeface="Consolas"/>
              </a:rPr>
              <a:t>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3108960"/>
            <a:ext cx="2514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025"/>
                </a:solidFill>
                <a:latin typeface="Segoe UI Semibold"/>
              </a:rPr>
              <a:t>On-chain leg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108960"/>
            <a:ext cx="626364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B4A70"/>
                </a:solidFill>
                <a:latin typeface="Segoe UI"/>
              </a:rPr>
              <a:t>New payments submit real shielded_transfer testnet txs; the tx hash resolves on stellar.expert.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995928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4261104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288536"/>
            <a:ext cx="96012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1B5E20"/>
                </a:solidFill>
                <a:latin typeface="Consolas"/>
              </a:rPr>
              <a:t>REAL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4123944"/>
            <a:ext cx="2514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025"/>
                </a:solidFill>
                <a:latin typeface="Segoe UI Semibold"/>
              </a:rPr>
              <a:t>Shield · decrypt · reconcile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4123944"/>
            <a:ext cx="626364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B4A70"/>
                </a:solidFill>
                <a:latin typeface="Segoe UI"/>
              </a:rPr>
              <a:t>View-key decryption, intent-based reconciliation, and the Stripe-style receipt all run for real (233 tests).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10912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5840" y="5276088"/>
            <a:ext cx="960120" cy="384048"/>
          </a:xfrm>
          <a:prstGeom prst="roundRect">
            <a:avLst>
              <a:gd name="adj" fmla="val 50000"/>
            </a:avLst>
          </a:prstGeom>
          <a:solidFill>
            <a:srgbClr val="FD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303520"/>
            <a:ext cx="960120" cy="365759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A5A00"/>
                </a:solidFill>
                <a:latin typeface="Consolas"/>
              </a:rPr>
              <a:t>MOCK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80" y="5138928"/>
            <a:ext cx="251460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025"/>
                </a:solidFill>
                <a:latin typeface="Segoe UI Semibold"/>
              </a:rPr>
              <a:t>Fiat anchor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5138928"/>
            <a:ext cx="6263640" cy="7132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B4A70"/>
                </a:solidFill>
                <a:latin typeface="Segoe UI"/>
              </a:rPr>
              <a:t>A Mock Anchor fires the SAME HMAC-signed webhook a real SEP anchor would — a documented drop-in (next slide).</a:t>
            </a:r>
          </a:p>
        </p:txBody>
      </p:sp>
      <p:pic>
        <p:nvPicPr>
          <p:cNvPr id="25" name="Picture 24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ECOSYSTEM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What Trexure unlocks for Stellar.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57984"/>
            <a:ext cx="82296" cy="1005839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57984"/>
            <a:ext cx="4681728" cy="10241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025"/>
                </a:solidFill>
                <a:latin typeface="Segoe UI Semibold"/>
              </a:rPr>
              <a:t>Unlocks enterprise volume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>
                <a:solidFill>
                  <a:srgbClr val="5B4A70"/>
                </a:solidFill>
                <a:latin typeface="Segoe UI"/>
              </a:rPr>
              <a:t>Makes Stellar viable for corporate payroll, vendor payouts &amp; treasury — real, non-speculative volume that routes around public chains today.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2011680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2157984"/>
            <a:ext cx="82296" cy="1005839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2157984"/>
            <a:ext cx="4681728" cy="10241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025"/>
                </a:solidFill>
                <a:latin typeface="Segoe UI Semibold"/>
              </a:rPr>
              <a:t>Solves privacy vs. compliance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>
                <a:solidFill>
                  <a:srgbClr val="5B4A70"/>
                </a:solidFill>
                <a:latin typeface="Segoe UI"/>
              </a:rPr>
              <a:t>Selective disclosure: private to the public, fully readable to the owner &amp; its regulators — the version enterprises can actually adopt.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93008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639312"/>
            <a:ext cx="82296" cy="1005839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639312"/>
            <a:ext cx="4681728" cy="10241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025"/>
                </a:solidFill>
                <a:latin typeface="Segoe UI Semibold"/>
              </a:rPr>
              <a:t>Showcases Soroban ZK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>
                <a:solidFill>
                  <a:srgbClr val="5B4A70"/>
                </a:solidFill>
                <a:latin typeface="Segoe UI"/>
              </a:rPr>
              <a:t>A reusable, hand-written on-chain Groth16 / BLS12-381 verifier — a reference implementation for the Soroban dev community.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3493008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3639312"/>
            <a:ext cx="82296" cy="1005839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3639312"/>
            <a:ext cx="4681728" cy="10241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025"/>
                </a:solidFill>
                <a:latin typeface="Segoe UI Semibold"/>
              </a:rPr>
              <a:t>Onboards non-crypto finance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>
                <a:solidFill>
                  <a:srgbClr val="5B4A70"/>
                </a:solidFill>
                <a:latin typeface="Segoe UI"/>
              </a:rPr>
              <a:t>Abstracts the chain into a Stripe-style API + receipt, lowering the #1 barrier keeping mainstream finance off crypto rails.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974336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5120640"/>
            <a:ext cx="82296" cy="1005839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20640"/>
            <a:ext cx="4681728" cy="10241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025"/>
                </a:solidFill>
                <a:latin typeface="Segoe UI Semibold"/>
              </a:rPr>
              <a:t>Composable with the network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>
                <a:solidFill>
                  <a:srgbClr val="5B4A70"/>
                </a:solidFill>
                <a:latin typeface="Segoe UI"/>
              </a:rPr>
              <a:t>Drop-in for SEP anchors + Soroban DeFi — connective tissue between on-chain settlement and Stellar's fiat/anchor network.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4974336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5120640"/>
            <a:ext cx="82296" cy="1005839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5120640"/>
            <a:ext cx="4681728" cy="1024127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A1025"/>
                </a:solidFill>
                <a:latin typeface="Segoe UI Semibold"/>
              </a:rPr>
              <a:t>Amplifies flagship assets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600"/>
              </a:spcAft>
            </a:pPr>
            <a:r>
              <a:rPr sz="1150" b="0">
                <a:solidFill>
                  <a:srgbClr val="5B4A70"/>
                </a:solidFill>
                <a:latin typeface="Segoe UI"/>
              </a:rPr>
              <a:t>Every settled payment moves USDC/EURC via anchors — driving utility for Stellar's stablecoins and its MoneyGram/Circle rails.</a:t>
            </a:r>
          </a:p>
        </p:txBody>
      </p:sp>
      <p:pic>
        <p:nvPicPr>
          <p:cNvPr id="23" name="Picture 22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BUILT TO PLUG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Integration plan: Stellar protocols we adopt.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5B4A70"/>
                </a:solidFill>
                <a:latin typeface="Segoe UI"/>
              </a:rPr>
              <a:t>Trexure is designed as connective tissue — not a silo. Prioritized from our ecosystem research (see issue #52).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3456432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3456432" cy="457200"/>
          </a:xfrm>
          <a:prstGeom prst="roundRect">
            <a:avLst>
              <a:gd name="adj" fmla="val 1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50592"/>
            <a:ext cx="318211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ANCHORS &amp; RAILS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44368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SEP-31 + SEP-12  </a:t>
            </a:r>
            <a:r>
              <a:rPr sz="850" b="1">
                <a:solidFill>
                  <a:srgbClr val="1B5E20"/>
                </a:solidFill>
                <a:latin typeface="Consolas"/>
              </a:rPr>
              <a:t>P0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Real cross-border payout + KYC — replaces the Mock Anchor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94176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MoneyGram Ramps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USDC cash-out, 200+ countries / ~500k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43984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Circle USDC + CCTP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Native settlement asset on Stellar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193792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Stellar Disbursement Platform  </a:t>
            </a:r>
            <a:r>
              <a:rPr sz="850" b="1">
                <a:solidFill>
                  <a:srgbClr val="8E44AD"/>
                </a:solidFill>
                <a:latin typeface="Consolas"/>
              </a:rPr>
              <a:t>P2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Bulk payroll, up to 10k payments/batch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53128" y="2377440"/>
            <a:ext cx="3456432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53128" y="2377440"/>
            <a:ext cx="3456432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2450592"/>
            <a:ext cx="318211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A1025"/>
                </a:solidFill>
                <a:latin typeface="Segoe UI Semibold"/>
              </a:rPr>
              <a:t>PRIVACY / ZK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2944368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Confidential Tokens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Private SEP-41 balances — real value movement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694176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Privacy Pools (ASPs)  </a:t>
            </a:r>
            <a:r>
              <a:rPr sz="850" b="1">
                <a:solidFill>
                  <a:srgbClr val="8E44AD"/>
                </a:solidFill>
                <a:latin typeface="Consolas"/>
              </a:rPr>
              <a:t>P2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Compliant privacy-preserving transfers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4443984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SEP-41 + SAC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Standard token surface underneath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5193792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(today) Groth16 verifier  </a:t>
            </a:r>
            <a:r>
              <a:rPr sz="850" b="1">
                <a:solidFill>
                  <a:srgbClr val="D4AF37"/>
                </a:solidFill>
                <a:latin typeface="Consolas"/>
              </a:rPr>
              <a:t>NOW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Our live on-chain proof check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2377440"/>
            <a:ext cx="3456432" cy="3611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83296" y="2377440"/>
            <a:ext cx="3456432" cy="457200"/>
          </a:xfrm>
          <a:prstGeom prst="roundRect">
            <a:avLst>
              <a:gd name="adj" fmla="val 1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6175" y="2450592"/>
            <a:ext cx="318211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DeFi &amp; QUOTES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2944368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SEP-38 RFQ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Real FX quotes for the corridor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5" y="3694176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Soroswap aggregator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Live FX routing across Stellar DEXs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4443984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Blend (lending)  </a:t>
            </a:r>
            <a:r>
              <a:rPr sz="850" b="1">
                <a:solidFill>
                  <a:srgbClr val="8E44AD"/>
                </a:solidFill>
                <a:latin typeface="Consolas"/>
              </a:rPr>
              <a:t>P2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PayFi: finance against a proven receipt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6175" y="5193792"/>
            <a:ext cx="309067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025"/>
                </a:solidFill>
                <a:latin typeface="Segoe UI Semibold"/>
              </a:rPr>
              <a:t>SEP-10 auth  </a:t>
            </a:r>
            <a:r>
              <a:rPr sz="850" b="1">
                <a:solidFill>
                  <a:srgbClr val="8E44AD"/>
                </a:solidFill>
                <a:latin typeface="Consolas"/>
              </a:rPr>
              <a:t>P1</a:t>
            </a:r>
          </a:p>
          <a:p>
            <a:pPr algn="l">
              <a:lnSpc>
                <a:spcPct val="108000"/>
              </a:lnSpc>
              <a:spcBef>
                <a:spcPts val="100"/>
              </a:spcBef>
              <a:spcAft>
                <a:spcPts val="600"/>
              </a:spcAft>
            </a:pPr>
            <a:r>
              <a:rPr sz="1050" b="0">
                <a:solidFill>
                  <a:srgbClr val="5B4A70"/>
                </a:solidFill>
                <a:latin typeface="Segoe UI"/>
              </a:rPr>
              <a:t>Stellar-native wallet/anchor sessions</a:t>
            </a:r>
          </a:p>
        </p:txBody>
      </p:sp>
      <p:pic>
        <p:nvPicPr>
          <p:cNvPr id="27" name="Picture 26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Land in the Philippines. Expand across APAC. Scale global.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3456432" cy="4114800"/>
          </a:xfrm>
          <a:prstGeom prst="roundRect">
            <a:avLst>
              <a:gd name="adj" fmla="val 5000"/>
            </a:avLst>
          </a:prstGeom>
          <a:solidFill>
            <a:srgbClr val="1A1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148840"/>
            <a:ext cx="2999232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D4AF37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2000" b="1">
                <a:solidFill>
                  <a:srgbClr val="D4AF37"/>
                </a:solidFill>
                <a:latin typeface="Segoe UI Semibold"/>
              </a:rPr>
              <a:t>PHILIPPINES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8992" y="306324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090672"/>
            <a:ext cx="15544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>
                <a:solidFill>
                  <a:srgbClr val="1A1025"/>
                </a:solidFill>
                <a:latin typeface="Consolas"/>
              </a:rPr>
              <a:t>BEACHHEAD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566160"/>
            <a:ext cx="2980944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3000"/>
              </a:lnSpc>
              <a:spcBef>
                <a:spcPts val="8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USD-&gt;PHP contractor payroll — BPO, freelancer &amp; OFW corridors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Wedge anchor: Xendit / local SEP-31 provider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Self-serve API + dashboard; land developer-led design partners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Why here: huge remittance market, English-first, dollar-paid talent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261104" y="3886200"/>
            <a:ext cx="219456" cy="219456"/>
          </a:xfrm>
          <a:prstGeom prst="rightArrow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53128" y="1920240"/>
            <a:ext cx="3456432" cy="4114800"/>
          </a:xfrm>
          <a:prstGeom prst="roundRect">
            <a:avLst>
              <a:gd name="adj" fmla="val 5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148840"/>
            <a:ext cx="2999232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D4AF37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APAC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306324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3090672"/>
            <a:ext cx="15544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>
                <a:solidFill>
                  <a:srgbClr val="1A1025"/>
                </a:solidFill>
                <a:latin typeface="Consolas"/>
              </a:rPr>
              <a:t>EXPAND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566160"/>
            <a:ext cx="2980944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3000"/>
              </a:lnSpc>
              <a:spcBef>
                <a:spcPts val="80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Segoe UI"/>
              </a:rPr>
              <a:t>•  New corridors: ID, VN, IN, MY — multi-asset (USDC/EURC)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Segoe UI"/>
              </a:rPr>
              <a:t>•  Ride MoneyGram Ramps + regional anchor footprint (SEP-31)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Segoe UI"/>
              </a:rPr>
              <a:t>•  Batch payroll via SDP interop; QuickBooks / Xero export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FFFFFF"/>
                </a:solidFill>
                <a:latin typeface="Segoe UI"/>
              </a:rPr>
              <a:t>•  Channel: crypto-payroll platforms &amp; PSPs embed Trexure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91272" y="3886200"/>
            <a:ext cx="219456" cy="219456"/>
          </a:xfrm>
          <a:prstGeom prst="rightArrow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83296" y="1920240"/>
            <a:ext cx="3456432" cy="4114800"/>
          </a:xfrm>
          <a:prstGeom prst="roundRect">
            <a:avLst>
              <a:gd name="adj" fmla="val 5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7" y="2148840"/>
            <a:ext cx="2999232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D4AF37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2000" b="1">
                <a:solidFill>
                  <a:srgbClr val="D4AF37"/>
                </a:solidFill>
                <a:latin typeface="Segoe UI Semibold"/>
              </a:rPr>
              <a:t>GLOBAL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39327" y="306324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090672"/>
            <a:ext cx="155448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>
                <a:solidFill>
                  <a:srgbClr val="1A1025"/>
                </a:solidFill>
                <a:latin typeface="Consolas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566160"/>
            <a:ext cx="2980944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3000"/>
              </a:lnSpc>
              <a:spcBef>
                <a:spcPts val="8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Enterprise treasury: Confidential Tokens, SSO/RBAC, SLAs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Compliance seats (auditor/regulator selective disclosure)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PayFi financing (Blend); accounting-suite integrations</a:t>
            </a:r>
          </a:p>
          <a:p>
            <a:pPr algn="l">
              <a:lnSpc>
                <a:spcPct val="113000"/>
              </a:lnSpc>
              <a:spcBef>
                <a:spcPts val="700"/>
              </a:spcBef>
              <a:spcAft>
                <a:spcPts val="600"/>
              </a:spcAft>
            </a:pPr>
            <a:r>
              <a:rPr sz="1150" b="0">
                <a:solidFill>
                  <a:srgbClr val="CFC3E0"/>
                </a:solidFill>
                <a:latin typeface="Segoe UI"/>
              </a:rPr>
              <a:t>•  Distribution: SDF ecosystem, SCF grant, CV Labs accelerator</a:t>
            </a:r>
          </a:p>
        </p:txBody>
      </p:sp>
      <p:pic>
        <p:nvPicPr>
          <p:cNvPr id="22" name="Picture 21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8E44AD"/>
                </a:solidFill>
                <a:latin typeface="Segoe UI Semibold"/>
              </a:rPr>
              <a:t>PRICING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1A1025"/>
                </a:solidFill>
                <a:latin typeface="Segoe UI Semibold"/>
              </a:rPr>
              <a:t>Usage-based, aligned to value settled.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4A70"/>
                </a:solidFill>
                <a:latin typeface="Segoe UI"/>
              </a:rPr>
              <a:t>Priced per reconciled payment — we make money only when a payment settles. SaaS tiers layer on team &amp; compliance features.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14600"/>
            <a:ext cx="3401568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788920"/>
            <a:ext cx="2852928" cy="2788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E44AD"/>
                </a:solidFill>
                <a:latin typeface="Segoe UI Semibold"/>
              </a:rPr>
              <a:t>STARTER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1A1025"/>
                </a:solidFill>
                <a:latin typeface="Segoe UI Semibold"/>
              </a:rPr>
              <a:t>Free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Up to 50 settled payments / mo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Self-serve · 1 tenant · community support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2514600"/>
            <a:ext cx="3401568" cy="3200400"/>
          </a:xfrm>
          <a:prstGeom prst="roundRect">
            <a:avLst>
              <a:gd name="adj" fmla="val 5000"/>
            </a:avLst>
          </a:prstGeom>
          <a:solidFill>
            <a:srgbClr val="1A1025"/>
          </a:solidFill>
          <a:ln w="2032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35624" y="233172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35624" y="2359151"/>
            <a:ext cx="155448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>
                <a:solidFill>
                  <a:srgbClr val="1A1025"/>
                </a:solidFill>
                <a:latin typeface="Consolas"/>
              </a:rPr>
              <a:t>MOST POPULAR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0016" y="2788920"/>
            <a:ext cx="2852928" cy="2788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Segoe UI Semibold"/>
              </a:rPr>
              <a:t>GROWTH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$0.25 / settled pmt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CFC3E0"/>
                </a:solidFill>
                <a:latin typeface="Segoe UI"/>
              </a:rPr>
              <a:t>+ $99 / mo base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  <a:spcAft>
                <a:spcPts val="600"/>
              </a:spcAft>
            </a:pPr>
            <a:r>
              <a:rPr sz="1200" b="0">
                <a:solidFill>
                  <a:srgbClr val="CFC3E0"/>
                </a:solidFill>
                <a:latin typeface="Segoe UI"/>
              </a:rPr>
              <a:t>Multi-corridor · QuickBooks/Xero · API keys · email support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2" y="2514600"/>
            <a:ext cx="3401568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2788920"/>
            <a:ext cx="2852928" cy="2788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E44AD"/>
                </a:solidFill>
                <a:latin typeface="Segoe UI Semibold"/>
              </a:rPr>
              <a:t>ENTERPRISE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1A1025"/>
                </a:solidFill>
                <a:latin typeface="Segoe UI Semibold"/>
              </a:rPr>
              <a:t>Custom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Volume + platform fee</a:t>
            </a:r>
          </a:p>
          <a:p>
            <a:pPr algn="l">
              <a:lnSpc>
                <a:spcPct val="122000"/>
              </a:lnSpc>
              <a:spcBef>
                <a:spcPts val="1400"/>
              </a:spcBef>
              <a:spcAft>
                <a:spcPts val="600"/>
              </a:spcAft>
            </a:pPr>
            <a:r>
              <a:rPr sz="1200" b="0">
                <a:solidFill>
                  <a:srgbClr val="5B4A70"/>
                </a:solidFill>
                <a:latin typeface="Segoe UI"/>
              </a:rPr>
              <a:t>SSO/RBAC · dedicated anchor · SLA · compliance seats · audit 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8E44AD"/>
                </a:solidFill>
                <a:latin typeface="Segoe UI"/>
              </a:rPr>
              <a:t>Optional: bps take-rate on FX / anchor spread, revenue-shared with the anchor partner.</a:t>
            </a:r>
          </a:p>
        </p:txBody>
      </p:sp>
      <p:pic>
        <p:nvPicPr>
          <p:cNvPr id="15" name="Picture 14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4A7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D4AF37"/>
                </a:solidFill>
                <a:latin typeface="Segoe UI Semibol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Segoe UI Semibold"/>
              </a:rPr>
              <a:t>From hackathon build to production treasury layer.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932688"/>
          </a:xfrm>
          <a:prstGeom prst="roundRect">
            <a:avLst>
              <a:gd name="adj" fmla="val 7000"/>
            </a:avLst>
          </a:prstGeom>
          <a:solidFill>
            <a:srgbClr val="3A2A12"/>
          </a:solidFill>
          <a:ln w="1651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57984"/>
            <a:ext cx="100584" cy="64008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21408"/>
            <a:ext cx="24231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D4AF37"/>
                </a:solidFill>
                <a:latin typeface="Segoe UI Semibold"/>
              </a:rPr>
              <a:t>NOW · 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2121408"/>
            <a:ext cx="75895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7DFF2"/>
                </a:solidFill>
                <a:latin typeface="Segoe UI"/>
              </a:rPr>
              <a:t>Real Groth16 proving on-chain · shielded_transfer testnet txs · self-serve signup · reconcile -&gt; receipt -&gt; PDF · staging deploy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54096"/>
            <a:ext cx="10515600" cy="932688"/>
          </a:xfrm>
          <a:prstGeom prst="roundRect">
            <a:avLst>
              <a:gd name="adj" fmla="val 7000"/>
            </a:avLst>
          </a:prstGeom>
          <a:solidFill>
            <a:srgbClr val="241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3200400"/>
            <a:ext cx="100584" cy="64008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163824"/>
            <a:ext cx="24231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0–3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163824"/>
            <a:ext cx="75895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7DFF2"/>
                </a:solidFill>
                <a:latin typeface="Segoe UI"/>
              </a:rPr>
              <a:t>SEP-31 + SEP-12 real anchor payout (PH corridor) · mainnet-ready · QuickBooks / Xero export · apply to SCF Build Award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96512"/>
            <a:ext cx="10515600" cy="932688"/>
          </a:xfrm>
          <a:prstGeom prst="roundRect">
            <a:avLst>
              <a:gd name="adj" fmla="val 7000"/>
            </a:avLst>
          </a:prstGeom>
          <a:solidFill>
            <a:srgbClr val="241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242816"/>
            <a:ext cx="100584" cy="64008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206240"/>
            <a:ext cx="24231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3–6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4206240"/>
            <a:ext cx="75895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7DFF2"/>
                </a:solidFill>
                <a:latin typeface="Segoe UI"/>
              </a:rPr>
              <a:t>Confidential Tokens value movement · SEP-38 + Soroswap FX · compliance / selective-disclosure seats · multi-corridor APAC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138928"/>
            <a:ext cx="10515600" cy="932688"/>
          </a:xfrm>
          <a:prstGeom prst="roundRect">
            <a:avLst>
              <a:gd name="adj" fmla="val 7000"/>
            </a:avLst>
          </a:prstGeom>
          <a:solidFill>
            <a:srgbClr val="241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5285232"/>
            <a:ext cx="100584" cy="64008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48656"/>
            <a:ext cx="24231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6–12 MONTHS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5248656"/>
            <a:ext cx="75895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E7DFF2"/>
                </a:solidFill>
                <a:latin typeface="Segoe UI"/>
              </a:rPr>
              <a:t>Enterprise (SSO / RBAC / SLA) · batch payroll (SDP) · PayFi financing (Blend) · anchor marketplace · SDK + partner embeds</a:t>
            </a:r>
          </a:p>
        </p:txBody>
      </p:sp>
      <p:pic>
        <p:nvPicPr>
          <p:cNvPr id="21" name="Picture 20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8" y="457200"/>
            <a:ext cx="307186" cy="3657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8FB0"/>
                </a:solidFill>
                <a:latin typeface="Consolas"/>
              </a:rPr>
              <a:t>TREXURE  ·  Unified treasury API for Stellar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1908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9A8FB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148085908000" cy="12801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691169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45920" y="1371600"/>
            <a:ext cx="91440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Trexure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>
                <a:solidFill>
                  <a:srgbClr val="D4AF37"/>
                </a:solidFill>
                <a:latin typeface="Segoe UI Semibold"/>
              </a:rPr>
              <a:t>Private business payments on Stellar — that your accountant, your auditor, and your regulator can all live with.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C3E0"/>
                </a:solidFill>
                <a:latin typeface="Segoe UI"/>
              </a:rPr>
              <a:t>ZK privacy · automatic on-chain &lt;-&gt; fiat reconciliation · accountant-ready output. Composable with Stellar's anchors, SEPs, and DeFi.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257800"/>
            <a:ext cx="3200400" cy="457200"/>
          </a:xfrm>
          <a:prstGeom prst="roundRect">
            <a:avLst>
              <a:gd name="adj" fmla="val 50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285232"/>
            <a:ext cx="3200400" cy="43891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Try it: /signup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5257800"/>
            <a:ext cx="3931920" cy="457200"/>
          </a:xfrm>
          <a:prstGeom prst="roundRect">
            <a:avLst>
              <a:gd name="adj" fmla="val 50000"/>
            </a:avLst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5285232"/>
            <a:ext cx="3931920" cy="43891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D4AF37"/>
                </a:solidFill>
                <a:latin typeface="Consolas"/>
              </a:rPr>
              <a:t>Integration plan: issue #52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8FB0"/>
                </a:solidFill>
                <a:latin typeface="Consolas"/>
              </a:rPr>
              <a:t>Private in. Receipt out. The blockchain disappears.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