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822960" y="2148840"/>
            <a:ext cx="822960" cy="822960"/>
          </a:xfrm>
          <a:prstGeom prst="homePlat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48840"/>
            <a:ext cx="914400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 Semibold"/>
              </a:rPr>
              <a:t>Trexure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29000"/>
            <a:ext cx="10424160" cy="10972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D4AF37"/>
                </a:solidFill>
                <a:latin typeface="Segoe UI Semibold"/>
              </a:rPr>
              <a:t>A private payment walks in. An accounting-ready receipt walks out.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sz="1600" b="0">
                <a:solidFill>
                  <a:srgbClr val="CFC3E0"/>
                </a:solidFill>
                <a:latin typeface="Segoe UI"/>
              </a:rPr>
              <a:t>The unified, ZK-private treasury layer for Stellar — the blockchain disappears.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07492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102352"/>
            <a:ext cx="27889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4AF37"/>
                </a:solidFill>
                <a:latin typeface="Consolas"/>
              </a:rPr>
              <a:t>STELLAR-NATIVE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5074920"/>
            <a:ext cx="242316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5102352"/>
            <a:ext cx="242316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4AF37"/>
                </a:solidFill>
                <a:latin typeface="Consolas"/>
              </a:rPr>
              <a:t>ZK-PRIVATE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507492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5102352"/>
            <a:ext cx="329184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D4AF37"/>
                </a:solidFill>
                <a:latin typeface="Consolas"/>
              </a:rPr>
              <a:t>LOCALLY RECONCILED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8FB0"/>
                </a:solidFill>
                <a:latin typeface="Consolas"/>
              </a:rPr>
              <a:t>Global Hackathon · Built on Soroban (testnet) · Groth16 / BLS12-381 verified on-chain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On a public ledger, privacy is all-or-nothing.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2578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475488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E44AD"/>
                </a:solidFill>
                <a:latin typeface="Segoe UI Semibold"/>
              </a:rPr>
              <a:t>EXAMPLE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600"/>
              </a:spcAft>
            </a:pPr>
            <a:r>
              <a:rPr sz="1550" b="1">
                <a:solidFill>
                  <a:srgbClr val="1A1025"/>
                </a:solidFill>
                <a:latin typeface="Segoe UI"/>
              </a:rPr>
              <a:t>Acme Corp runs payroll for 40 contractors in Manila — $2,500 each in USDC on Stellar.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</a:pPr>
            <a:r>
              <a:rPr sz="1300" b="0">
                <a:solidFill>
                  <a:srgbClr val="5B4A70"/>
                </a:solidFill>
                <a:latin typeface="Segoe UI"/>
              </a:rPr>
              <a:t>By lunchtime, a competitor scraping the public ledger knows: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1A1025"/>
                </a:solidFill>
                <a:latin typeface="Segoe UI"/>
              </a:rPr>
              <a:t>•  exactly who Acme pays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0">
                <a:solidFill>
                  <a:srgbClr val="1A1025"/>
                </a:solidFill>
                <a:latin typeface="Segoe UI"/>
              </a:rPr>
              <a:t>•  how much each person makes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sz="1300" b="0">
                <a:solidFill>
                  <a:srgbClr val="1A1025"/>
                </a:solidFill>
                <a:latin typeface="Segoe UI"/>
              </a:rPr>
              <a:t>•  Acme's total headcount &amp; burn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350" b="1">
                <a:solidFill>
                  <a:srgbClr val="8A5A00"/>
                </a:solidFill>
                <a:latin typeface="Segoe UI"/>
              </a:rPr>
              <a:t>So Acme hides it — and now its own finance team can't reconcile or report it either.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4937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148840"/>
            <a:ext cx="45262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025"/>
                </a:solidFill>
                <a:latin typeface="Segoe UI Semibold"/>
              </a:rPr>
              <a:t>FULLY PUBLIC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5B4A70"/>
                </a:solidFill>
                <a:latin typeface="Segoe UI"/>
              </a:rPr>
              <a:t>Every payment exposed. A non-starter for real finance, HR, and vendor relations.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069080"/>
            <a:ext cx="493776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251960"/>
            <a:ext cx="4526280" cy="1554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A1025"/>
                </a:solidFill>
                <a:latin typeface="Segoe UI Semibold"/>
              </a:rPr>
              <a:t>FULLY SHIELDED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sz="1300" b="0">
                <a:solidFill>
                  <a:srgbClr val="5B4A70"/>
                </a:solidFill>
                <a:latin typeface="Segoe UI"/>
              </a:rPr>
              <a:t>Opaque even to the payer. No AML/KYC, no bookkeeping, no “hash X → deposit Y” proof.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8064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E44AD"/>
                </a:solidFill>
                <a:latin typeface="Segoe UI"/>
              </a:rPr>
              <a:t>Nothing in between reconciles private proof ↔ real fiat.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Private on the outside. Fully reconciled on the inside.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4A70"/>
                </a:solidFill>
                <a:latin typeface="Segoe UI"/>
              </a:rPr>
              <a:t>Trexure is a treasury API for Stellar: it shields a payment on-chain, lets only the payer decrypt it, auto-reconciles it against the fiat payout, and emits a Stripe-style receipt.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SHIELD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Payment goes on-chain. Ledger shows a ZK commitment only — no sender, no amount.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46703" y="4114800"/>
            <a:ext cx="164592" cy="201168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93008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93008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DECRYPT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Payer applies its own view key, server-side. Audit-logged; key never leaves the server.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16752" y="4114800"/>
            <a:ext cx="164592" cy="201168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3056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3056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RECONCILE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A worker matches the on-chain leg to the fiat webhook by intentId → SETTLED.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86800" y="4114800"/>
            <a:ext cx="164592" cy="201168"/>
          </a:xfrm>
          <a:prstGeom prst="rightArrow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33104" y="2788920"/>
            <a:ext cx="2542032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33104" y="278892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3063240"/>
            <a:ext cx="2176272" cy="2468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1A1025"/>
                </a:solidFill>
                <a:latin typeface="Segoe UI Semibold"/>
              </a:rPr>
              <a:t>RECEIPT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FX, fees, slippage, both references — accounting-ready JSON + PDF.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4AF37"/>
                </a:solidFill>
                <a:latin typeface="Segoe UI Semibold"/>
              </a:rP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Three things that are hard to copy —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2898648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STELLAR-NATIVE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>
                <a:solidFill>
                  <a:srgbClr val="CFC3E0"/>
                </a:solidFill>
                <a:latin typeface="Segoe UI"/>
              </a:rPr>
              <a:t>Real Soroban txs + a hand-written on-chain verifier. Not a DB pretending to be a chain.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5740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331720"/>
            <a:ext cx="2898648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ZK-PRIVATE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>
                <a:solidFill>
                  <a:srgbClr val="CFC3E0"/>
                </a:solidFill>
                <a:latin typeface="Segoe UI"/>
              </a:rPr>
              <a:t>A genuine Groth16 proof, verified on-chain by a BLS12-381 pairing check. Tamper → false.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057400"/>
            <a:ext cx="3401568" cy="265176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2331720"/>
            <a:ext cx="2898648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Segoe UI Semibold"/>
              </a:rPr>
              <a:t>LOCALLY RECONCILED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600"/>
              </a:spcAft>
            </a:pPr>
            <a:r>
              <a:rPr sz="1250" b="0">
                <a:solidFill>
                  <a:srgbClr val="CFC3E0"/>
                </a:solidFill>
                <a:latin typeface="Segoe UI"/>
              </a:rPr>
              <a:t>On-chain ↔ fiat legs auto-matched into one Stripe-style receipt an accountant trusts.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29200"/>
            <a:ext cx="10515600" cy="9601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778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38928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D4AF37"/>
                </a:solidFill>
                <a:latin typeface="Segoe UI"/>
              </a:rPr>
              <a:t>No incumbent does all three. Stripe can’t do crypto or privacy. Crypto rails can’t do local reconciliation or a receipt your accountant trusts.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NOT A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The hard, easy-to-fake parts are real —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231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58568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B5E20"/>
                </a:solidFill>
                <a:latin typeface="Consolas"/>
              </a:rPr>
              <a:t>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093976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ZK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093976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Groth16 proof checked on-chain by a Soroban BLS12-381 pairing. Tampered statement returns false.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8094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32461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73551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B5E20"/>
                </a:solidFill>
                <a:latin typeface="Consolas"/>
              </a:rPr>
              <a:t>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108960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On-chain leg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08960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Payments submit real shielded_transfer testnet txs; the tx hash resolves on stellar.expert.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995928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26110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88536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B5E20"/>
                </a:solidFill>
                <a:latin typeface="Consolas"/>
              </a:rPr>
              <a:t>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123944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Shield · decrypt · 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123944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View-key decryption, intent-based reconciliation, and the Stripe-style receipt all run for real.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1091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27608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D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03520"/>
            <a:ext cx="960120" cy="36575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8A5A00"/>
                </a:solidFill>
                <a:latin typeface="Consolas"/>
              </a:rPr>
              <a:t>MOCK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138928"/>
            <a:ext cx="251460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A1025"/>
                </a:solidFill>
                <a:latin typeface="Segoe UI Semibold"/>
              </a:rPr>
              <a:t>Fiat 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5138928"/>
            <a:ext cx="626364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4A70"/>
                </a:solidFill>
                <a:latin typeface="Segoe UI"/>
              </a:rPr>
              <a:t>A Mock Anchor fires the SAME HMAC-signed webhook a real provider (e.g. Xendit) would — drop-in swap.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ECOSYSTEM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What Trexure unlocks for Stellar.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57984"/>
            <a:ext cx="82296" cy="1005839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57984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Unlocks enterprise volume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Makes Stellar viable for corporate payroll, vendor payouts &amp; treasury — volume that today routes around public chains.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011680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2157984"/>
            <a:ext cx="82296" cy="100583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157984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Solves privacy vs. compliance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Selective disclosure: private to the public, fully readable to the owner &amp; its regulators. The version enterprises can adopt.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9300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639312"/>
            <a:ext cx="82296" cy="1005839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39312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Advances Soroban ZK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Ships a reusable, hand-written on-chain Groth16 / BLS12-381 verifier — a reference for the whole Soroban dev community.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49300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3639312"/>
            <a:ext cx="82296" cy="100583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639312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Onboards non-crypto finance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Abstracts the chain into a Stripe-style API + receipt, lowering the #1 barrier keeping mainstream finance off crypto rails.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74336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120640"/>
            <a:ext cx="82296" cy="1005839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Composable anchor primitive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Drop-in for SEP anchors; corridor-agnostic reconciliation — connective tissue between on-chain settlement &amp; the fiat network.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4974336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5120640"/>
            <a:ext cx="82296" cy="1005839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5120640"/>
            <a:ext cx="4681728" cy="10241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A1025"/>
                </a:solidFill>
                <a:latin typeface="Segoe UI Semibold"/>
              </a:rPr>
              <a:t>Grows TVL &amp; real usage</a:t>
            </a:r>
          </a:p>
          <a:p>
            <a:pPr algn="l">
              <a:lnSpc>
                <a:spcPct val="112000"/>
              </a:lnSpc>
              <a:spcBef>
                <a:spcPts val="400"/>
              </a:spcBef>
              <a:spcAft>
                <a:spcPts val="600"/>
              </a:spcAft>
            </a:pPr>
            <a:r>
              <a:rPr sz="1150" b="0">
                <a:solidFill>
                  <a:srgbClr val="5B4A70"/>
                </a:solidFill>
                <a:latin typeface="Segoe UI"/>
              </a:rPr>
              <a:t>Every settled payment is a real on-chain tx + contract call — durable, non-speculative transaction volume for the network.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Land the crypto-native payer. Expand into treasury.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429000" cy="3977639"/>
          </a:xfrm>
          <a:prstGeom prst="roundRect">
            <a:avLst>
              <a:gd name="adj" fmla="val 5000"/>
            </a:avLst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3017520" cy="3657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D4AF37"/>
                </a:solidFill>
                <a:latin typeface="Segoe UI Semibold"/>
              </a:rPr>
              <a:t>BEACHHEAD</a:t>
            </a:r>
          </a:p>
          <a:p>
            <a:pPr algn="l">
              <a:lnSpc>
                <a:spcPct val="116000"/>
              </a:lnSpc>
              <a:spcBef>
                <a:spcPts val="80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Companies already paying contractors in USDC on Stellar — remittance &amp; payroll corridors (US→PH, US→LATAM).</a:t>
            </a:r>
          </a:p>
          <a:p>
            <a:pPr algn="l">
              <a:lnSpc>
                <a:spcPct val="116000"/>
              </a:lnSpc>
              <a:spcBef>
                <a:spcPts val="1200"/>
              </a:spcBef>
              <a:spcAft>
                <a:spcPts val="600"/>
              </a:spcAft>
            </a:pPr>
            <a:r>
              <a:rPr sz="1250" b="0">
                <a:solidFill>
                  <a:srgbClr val="CFC3E0"/>
                </a:solidFill>
                <a:latin typeface="Segoe UI"/>
              </a:rPr>
              <a:t>API-first: sign up → own tenant → shielded payment → receipt in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965960"/>
            <a:ext cx="6812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2312" y="2084831"/>
            <a:ext cx="21031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E44AD"/>
                </a:solidFill>
                <a:latin typeface="Segoe UI Semibold"/>
              </a:rPr>
              <a:t>1 · 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84831"/>
            <a:ext cx="42519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Self-serve API + dashboard. Developer-led, usage-based. Free tier to first settled payment.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980944"/>
            <a:ext cx="6812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3099815"/>
            <a:ext cx="21031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E44AD"/>
                </a:solidFill>
                <a:latin typeface="Segoe UI Semibold"/>
              </a:rPr>
              <a:t>2 · EXPAND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99815"/>
            <a:ext cx="42519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Multi-corridor, batch payroll, QuickBooks / Xero export, compliance read-access seats.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3995928"/>
            <a:ext cx="6812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4114800"/>
            <a:ext cx="21031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E44AD"/>
                </a:solidFill>
                <a:latin typeface="Segoe UI Semibold"/>
              </a:rPr>
              <a:t>3 ·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114800"/>
            <a:ext cx="42519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Embed via Stellar SEP anchors (Xendit, MoneyGram Access) &amp; crypto-payroll platforms; SDF ecosystem grants.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5010912"/>
            <a:ext cx="6812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5129784"/>
            <a:ext cx="210312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8E44AD"/>
                </a:solidFill>
                <a:latin typeface="Segoe UI Semibold"/>
              </a:rPr>
              <a:t>4 ·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129784"/>
            <a:ext cx="425196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SSO, RBAC, SLAs, dedicated anchor — land treasury &amp; finance orgs.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8E44AD"/>
                </a:solidFill>
                <a:latin typeface="Segoe UI Semibold"/>
              </a:rPr>
              <a:t>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1A1025"/>
                </a:solidFill>
                <a:latin typeface="Segoe UI Semibold"/>
              </a:rPr>
              <a:t>Usage-based, aligned to value settled.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4A70"/>
                </a:solidFill>
                <a:latin typeface="Segoe UI"/>
              </a:rPr>
              <a:t>Priced per reconciled payment — we make money only when a payment settles. SaaS tiers layer on team &amp; compliance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85292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E44AD"/>
                </a:solidFill>
                <a:latin typeface="Segoe UI Semibold"/>
              </a:rPr>
              <a:t>STARTER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1A1025"/>
                </a:solidFill>
                <a:latin typeface="Segoe UI Semibold"/>
              </a:rPr>
              <a:t>Free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Up to 50 settled payments / mo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Self-serve · 1 tenant · community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51460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1A1025"/>
          </a:solidFill>
          <a:ln w="2032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35624" y="23317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35624" y="2359151"/>
            <a:ext cx="1554480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1A1025"/>
                </a:solidFill>
                <a:latin typeface="Consolas"/>
              </a:rPr>
              <a:t>MOST POPULAR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0016" y="2788920"/>
            <a:ext cx="285292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Segoe UI Semibold"/>
              </a:rPr>
              <a:t>GROWTH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Segoe UI Semibold"/>
              </a:rPr>
              <a:t>$0.25 / settled pmt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CFC3E0"/>
                </a:solidFill>
                <a:latin typeface="Segoe UI"/>
              </a:rPr>
              <a:t>+ $99 / mo base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  <a:spcAft>
                <a:spcPts val="600"/>
              </a:spcAft>
            </a:pPr>
            <a:r>
              <a:rPr sz="1200" b="0">
                <a:solidFill>
                  <a:srgbClr val="CFC3E0"/>
                </a:solidFill>
                <a:latin typeface="Segoe UI"/>
              </a:rPr>
              <a:t>Multi-corridor · QuickBooks/Xero · API keys · email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2514600"/>
            <a:ext cx="3401568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788920"/>
            <a:ext cx="2852928" cy="2788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E44AD"/>
                </a:solidFill>
                <a:latin typeface="Segoe UI Semibold"/>
              </a:rPr>
              <a:t>ENTERPRISE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600" b="1">
                <a:solidFill>
                  <a:srgbClr val="1A1025"/>
                </a:solidFill>
                <a:latin typeface="Segoe UI Semibold"/>
              </a:rPr>
              <a:t>Custom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Volume + platform fee</a:t>
            </a:r>
          </a:p>
          <a:p>
            <a:pPr algn="l">
              <a:lnSpc>
                <a:spcPct val="122000"/>
              </a:lnSpc>
              <a:spcBef>
                <a:spcPts val="1400"/>
              </a:spcBef>
              <a:spcAft>
                <a:spcPts val="600"/>
              </a:spcAft>
            </a:pPr>
            <a:r>
              <a:rPr sz="1200" b="0">
                <a:solidFill>
                  <a:srgbClr val="5B4A70"/>
                </a:solidFill>
                <a:latin typeface="Segoe UI"/>
              </a:rPr>
              <a:t>SSO/RBAC · dedicated anchor · SLA · compliance seats · audit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8E44AD"/>
                </a:solidFill>
                <a:latin typeface="Segoe UI"/>
              </a:rPr>
              <a:t>Optional: bps take-rate on FX / anchor spread, revenue-shared with the anchor partner.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B4A70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D4AF37"/>
                </a:solidFill>
                <a:latin typeface="Segoe UI Semibold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 Semibold"/>
              </a:rPr>
              <a:t>From hackathon build to production treasury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3A2A12"/>
          </a:solidFill>
          <a:ln w="1651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57984"/>
            <a:ext cx="100584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21408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D4AF37"/>
                </a:solidFill>
                <a:latin typeface="Segoe UI Semibold"/>
              </a:rPr>
              <a:t>NOW · shipped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121408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Real Groth16 proving on-chain · shielded_transfer testnet txs · self-serve signup · reconcile → receipt → PDF · staging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54096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200400"/>
            <a:ext cx="100584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63824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0–3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63824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Mainnet-ready · first live SEP anchor (Xendit) · full value-moving privacy pool (notes / nullifiers) · QuickBooks / Xero export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96512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242816"/>
            <a:ext cx="100584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3–6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206240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Multi-corridor &amp; multi-asset · batch payroll · security audit + SDF grant · compliance read-access (auditor seats)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38928"/>
            <a:ext cx="10515600" cy="932688"/>
          </a:xfrm>
          <a:prstGeom prst="roundRect">
            <a:avLst>
              <a:gd name="adj" fmla="val 7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5285232"/>
            <a:ext cx="100584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48656"/>
            <a:ext cx="24231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Segoe UI Semibold"/>
              </a:rPr>
              <a:t>6–12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248656"/>
            <a:ext cx="7589520" cy="7498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7DFF2"/>
                </a:solidFill>
                <a:latin typeface="Segoe UI"/>
              </a:rPr>
              <a:t>Enterprise (SSO / RBAC / SLA) · treasury dashboard &amp; forecasting · anchor marketplace · SDK + partner embeds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TREXURE  ·  Unified treasury API for Stellar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8FB0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>
            <a:off x="822960" y="1371600"/>
            <a:ext cx="640080" cy="640080"/>
          </a:xfrm>
          <a:prstGeom prst="homePlat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91440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Trexure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D4AF37"/>
                </a:solidFill>
                <a:latin typeface="Segoe UI Semibold"/>
              </a:rPr>
              <a:t>Private business payments on Stellar — that your accountant, your auditor, and your regulator can all live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CFC3E0"/>
                </a:solidFill>
                <a:latin typeface="Segoe UI"/>
              </a:rPr>
              <a:t>ZK privacy · automatic on-chain ↔ fiat reconciliation · accountant-ready output. No one else delivers all three.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2578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285232"/>
            <a:ext cx="320040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Try it: /signup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257800"/>
            <a:ext cx="3840480" cy="457200"/>
          </a:xfrm>
          <a:prstGeom prst="roundRect">
            <a:avLst>
              <a:gd name="adj" fmla="val 50000"/>
            </a:avLst>
          </a:prstGeom>
          <a:solidFill>
            <a:srgbClr val="2E1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5285232"/>
            <a:ext cx="3840480" cy="43891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D4AF37"/>
                </a:solidFill>
                <a:latin typeface="Consolas"/>
              </a:rPr>
              <a:t>Live proof on Stellar testnet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8FB0"/>
                </a:solidFill>
                <a:latin typeface="Consolas"/>
              </a:rPr>
              <a:t>Private in. Receipt out. The blockchain disappears.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