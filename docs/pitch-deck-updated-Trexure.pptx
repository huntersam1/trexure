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gboERnWH+jFw+wy0qXqj517VO+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-12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Hi, we're [team name], and we built Trexure — a treasury API for Stellar. In three minutes we'll show a private $2,500 payroll payment that's invisible on the public ledger, gets decrypted with the company's own key, auto-reconciles against a real bank payout, and turns into an accounting-ready receipt. Everything runs against a real Stellar testnet stack, not a slide animation.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-12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company running payroll over Stellar exposes every amount, recipient, and timing in plain text on a public ledger — visible to competitors and contractors. Existing privacy tools stop at hiding the transaction; they don't tell finance 'this on-chain transfer became this bank deposit,' and can't produce anything an accountant can file. Private payment in, clean reconciled receipt out — that gap is what Trexure closes.</a:t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-12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sentence: we decrypt your own private Stellar payments, reconcile them against the real payout automatically, and hand you a receipt. Three differentiators nobody combines: genuine on-chain privacy via a real Groth16 proof (not a mock); a reconciliation worker matching two independent event streams; and an output format built for finance, not block explorers.</a:t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-12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Hitting Demo Replay: first the public view, nothing readable; then I apply our view key and the real payload appears — contractor, USDC, $2,500; then I trigger the payout and the reconciliation row stitches the on-chain hash to the bank reference in real time; then the receipt, exported to PDF on the spot. If a judge wants proof, 'Verify proof on-chain' checks a real ZK proof via a smart contract on Stellar testnet, live.</a:t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-12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privacy layer is a real Circom circuit, proved with snarkjs, verified by a Soroban contract we wrote that does actual BLS12-381 pairing checks on-chain — real cryptography, not a flag. And the worker reconciles two independent asynchronous event streams (chain events + fiat webhooks) — the unglamorous, critical part most payout products skip. 192 tests cover both.</a:t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-12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standard modern stack — Next.js, Prisma, BullMQ — doing two genuinely hard things well. Three Railway-deployable services: web, worker, and managed Postgres/Redis.</a:t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-12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Anyone running payroll or vendor payments over Stellar in stablecoins is the immediate buyer — a fast-growing category. Stripe can't do crypto or privacy; crypto privacy tools stop at 'the transaction is hidden.' Nobody combines genuine on-chain privacy with automatic reconciliation and an accounting-ready receipt — that's the wedge. [inferred positioning]</a:t>
            </a:r>
            <a:endParaRPr/>
          </a:p>
        </p:txBody>
      </p:sp>
      <p:sp>
        <p:nvSpPr>
          <p:cNvPr id="130" name="Google Shape;13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/>
          <p:nvPr>
            <p:ph idx="2" type="sldImg"/>
          </p:nvPr>
        </p:nvSpPr>
        <p:spPr>
          <a:xfrm>
            <a:off x="-12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shipped the hard, easy-to-fake parts for real: the privacy proof and the reconciliation engine. What's left is mostly integration breadth. Biggest item: deploy a full privacy-pool transfer contract so new payments submit on-chain like our seeded demo already does end-to-end. Then a live anchor and more currency corridors.</a:t>
            </a:r>
            <a:endParaRPr/>
          </a:p>
        </p:txBody>
      </p:sp>
      <p:sp>
        <p:nvSpPr>
          <p:cNvPr id="137" name="Google Shape;13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/>
          <p:nvPr>
            <p:ph idx="2" type="sldImg"/>
          </p:nvPr>
        </p:nvSpPr>
        <p:spPr>
          <a:xfrm>
            <a:off x="-12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That's Trexure — a real zero-knowledge proof verified on-chain, a real reconciliation engine, and a receipt finance teams can actually use, all on Stellar testnet today. Thanks for watching — happy to walk through the code or the contract live.</a:t>
            </a:r>
            <a:endParaRPr/>
          </a:p>
        </p:txBody>
      </p:sp>
      <p:sp>
        <p:nvSpPr>
          <p:cNvPr id="144" name="Google Shape;14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subTitle"/>
          </p:nvPr>
        </p:nvSpPr>
        <p:spPr>
          <a:xfrm>
            <a:off x="1371600" y="3886200"/>
            <a:ext cx="64008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9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4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00" cy="58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mailto:mh@neri.ph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Text Scrim"/>
          <p:cNvSpPr/>
          <p:nvPr/>
        </p:nvSpPr>
        <p:spPr>
          <a:xfrm>
            <a:off x="365760" y="1783080"/>
            <a:ext cx="8046720" cy="2926080"/>
          </a:xfrm>
          <a:prstGeom prst="roundRect">
            <a:avLst>
              <a:gd name="adj" fmla="val 6000"/>
            </a:avLst>
          </a:prstGeom>
          <a:solidFill>
            <a:srgbClr val="1A1025">
              <a:alpha val="46000"/>
            </a:srgbClr>
          </a:solid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0" y="0"/>
            <a:ext cx="914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2E9FB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40080" y="2011680"/>
            <a:ext cx="786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2E9FB"/>
                </a:solidFill>
                <a:latin typeface="Inter"/>
                <a:ea typeface="Calibri"/>
                <a:cs typeface="Calibri"/>
                <a:sym typeface="Calibri"/>
              </a:rPr>
              <a:t>Trexure</a:t>
            </a:r>
            <a:endParaRPr>
              <a:solidFill>
                <a:srgbClr val="F2E9FB"/>
              </a:solidFill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40080" y="3200400"/>
            <a:ext cx="7863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2E9FB"/>
                </a:solidFill>
                <a:latin typeface="Inter"/>
                <a:ea typeface="Calibri"/>
                <a:cs typeface="Calibri"/>
                <a:sym typeface="Calibri"/>
              </a:rPr>
              <a:t>A unified treasury API that makes private Stellar payments accounting-ready.</a:t>
            </a:r>
            <a:endParaRPr>
              <a:solidFill>
                <a:srgbClr val="F2E9FB"/>
              </a:solidFill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40080" y="457200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2E9FB"/>
              </a:solidFill>
            </a:endParaRPr>
          </a:p>
        </p:txBody>
      </p:sp>
      <p:sp>
        <p:nvSpPr>
          <p:cNvPr id="907" name="Brand Accent Rule"/>
          <p:cNvSpPr/>
          <p:nvPr/>
        </p:nvSpPr>
        <p:spPr>
          <a:xfrm>
            <a:off x="640080" y="3086100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0" y="0"/>
            <a:ext cx="914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640080" y="548640"/>
            <a:ext cx="7863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D4AF37"/>
                </a:solidFill>
                <a:latin typeface="Inter"/>
                <a:ea typeface="Calibri"/>
                <a:cs typeface="Calibri"/>
                <a:sym typeface="Calibri"/>
              </a:rPr>
              <a:t>Public by default. Useless to finance.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640080" y="1828800"/>
            <a:ext cx="78639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•  Crypto rails are public by default</a:t>
            </a:r>
            <a:endParaRPr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•  Every payroll &amp; vendor payment is exposed</a:t>
            </a:r>
            <a:endParaRPr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•  Privacy tools only hide the transaction</a:t>
            </a:r>
            <a:endParaRPr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Inter"/>
                <a:ea typeface="Calibri"/>
                <a:cs typeface="Calibri"/>
                <a:sym typeface="Calibri"/>
              </a:rPr>
              <a:t>•  No reconciliation, no receipts for finance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  <a:effectLst/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 b="1">
                <a:solidFill>
                  <a:srgbClr val="8E44AD"/>
                </a:solidFill>
                <a:latin typeface="Inter"/>
                <a:ea typeface="Calibri"/>
                <a:cs typeface="Calibri"/>
                <a:sym typeface="Calibri"/>
              </a:rPr>
              <a:t>Solution: Decrypt. Reconcile. Receipt.</a:t>
            </a:r>
            <a:endParaRPr b="1">
              <a:solidFill>
                <a:srgbClr val="8E44AD"/>
              </a:solidFill>
            </a:endParaRPr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rgbClr val="1A1025"/>
                </a:solidFill>
                <a:latin typeface="Inter"/>
                <a:ea typeface="Calibri"/>
                <a:cs typeface="Calibri"/>
                <a:sym typeface="Calibri"/>
              </a:rPr>
              <a:t>Shield: ZK-proof payloads — the ledger sees noise</a:t>
            </a:r>
            <a:endParaRPr>
              <a:solidFill>
                <a:srgbClr val="1A1025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rgbClr val="1A1025"/>
                </a:solidFill>
                <a:latin typeface="Inter"/>
                <a:ea typeface="Calibri"/>
                <a:cs typeface="Calibri"/>
                <a:sym typeface="Calibri"/>
              </a:rPr>
              <a:t>Reconcile: worker matches legs by intentId, automatically</a:t>
            </a:r>
            <a:endParaRPr>
              <a:solidFill>
                <a:srgbClr val="1A1025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rgbClr val="1A1025"/>
                </a:solidFill>
                <a:latin typeface="Inter"/>
                <a:ea typeface="Calibri"/>
                <a:cs typeface="Calibri"/>
                <a:sym typeface="Calibri"/>
              </a:rPr>
              <a:t>Receipt: Stripe-style JSON + branded PDF for accounting</a:t>
            </a:r>
            <a:endParaRPr>
              <a:solidFill>
                <a:srgbClr val="1A1025"/>
              </a:solidFill>
            </a:endParaRPr>
          </a:p>
        </p:txBody>
      </p:sp>
      <p:sp>
        <p:nvSpPr>
          <p:cNvPr id="901" name="Brand Accent Rule"/>
          <p:cNvSpPr/>
          <p:nvPr/>
        </p:nvSpPr>
        <p:spPr>
          <a:xfrm>
            <a:off x="457200" y="1409700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  <a:effectLst/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8E44AD"/>
                </a:solidFill>
                <a:latin typeface="Inter"/>
                <a:ea typeface="Calibri"/>
                <a:cs typeface="Calibri"/>
                <a:sym typeface="Calibri"/>
              </a:rPr>
              <a:t>Demo: one payment's life, live</a:t>
            </a:r>
            <a:endParaRPr b="1">
              <a:solidFill>
                <a:srgbClr val="8E44AD"/>
              </a:solidFill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457200" y="5852160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1025"/>
              </a:solidFill>
            </a:endParaRPr>
          </a:p>
        </p:txBody>
      </p:sp>
      <p:pic>
        <p:nvPicPr>
          <p:cNvPr id="111" name="Google Shape;11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13" y="1219802"/>
            <a:ext cx="8945577" cy="4940149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Brand Accent Rule"/>
          <p:cNvSpPr/>
          <p:nvPr/>
        </p:nvSpPr>
        <p:spPr>
          <a:xfrm>
            <a:off x="457200" y="1409700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</p:sp>
      <p:sp>
        <p:nvSpPr>
          <p:cNvPr id="909" name="YouTube Button"/>
          <p:cNvSpPr/>
          <p:nvPr/>
        </p:nvSpPr>
        <p:spPr>
          <a:xfrm>
            <a:off x="3702050" y="2819400"/>
            <a:ext cx="1739900" cy="1219200"/>
          </a:xfrm>
          <a:prstGeom prst="roundRect">
            <a:avLst>
              <a:gd name="adj" fmla="val 28000"/>
            </a:avLst>
          </a:prstGeom>
          <a:solidFill>
            <a:srgbClr val="FF0000"/>
          </a:solidFill>
          <a:ln>
            <a:noFill/>
          </a:ln>
          <a:effectLst>
            <a:outerShdw blurRad="90000" dist="38100" dir="5400000" rotWithShape="0">
              <a:srgbClr val="1A1025">
                <a:alpha val="42000"/>
              </a:srgbClr>
            </a:outerShdw>
          </a:effectLst>
        </p:spPr>
      </p:sp>
      <p:sp>
        <p:nvSpPr>
          <p:cNvPr id="910" name="Play Triangle"/>
          <p:cNvSpPr/>
          <p:nvPr/>
        </p:nvSpPr>
        <p:spPr>
          <a:xfrm rot="5400000">
            <a:off x="4310725" y="3099000"/>
            <a:ext cx="590550" cy="660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  <a:effectLst/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 b="1">
                <a:solidFill>
                  <a:srgbClr val="8E44AD"/>
                </a:solidFill>
                <a:latin typeface="Inter"/>
                <a:ea typeface="Calibri"/>
                <a:cs typeface="Calibri"/>
                <a:sym typeface="Calibri"/>
              </a:rPr>
              <a:t>How it works: real crypto, real plumbing</a:t>
            </a:r>
            <a:endParaRPr b="1">
              <a:solidFill>
                <a:srgbClr val="8E44AD"/>
              </a:solidFill>
            </a:endParaRPr>
          </a:p>
        </p:txBody>
      </p:sp>
      <p:sp>
        <p:nvSpPr>
          <p:cNvPr id="118" name="Google Shape;118;p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rgbClr val="1A1025"/>
                </a:solidFill>
                <a:latin typeface="Inter"/>
                <a:ea typeface="Calibri"/>
                <a:cs typeface="Calibri"/>
                <a:sym typeface="Calibri"/>
              </a:rPr>
              <a:t>ZK: Circom + snarkjs Groth16, verified on-chain (Soroban)</a:t>
            </a:r>
            <a:endParaRPr>
              <a:solidFill>
                <a:srgbClr val="1A1025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rgbClr val="1A1025"/>
                </a:solidFill>
                <a:latin typeface="Inter"/>
                <a:ea typeface="Calibri"/>
                <a:cs typeface="Calibri"/>
                <a:sym typeface="Calibri"/>
              </a:rPr>
              <a:t>Not mocked — native BLS12-381 pairing in our contract</a:t>
            </a:r>
            <a:endParaRPr>
              <a:solidFill>
                <a:srgbClr val="1A1025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rgbClr val="1A1025"/>
                </a:solidFill>
                <a:latin typeface="Inter"/>
                <a:ea typeface="Calibri"/>
                <a:cs typeface="Calibri"/>
                <a:sym typeface="Calibri"/>
              </a:rPr>
              <a:t>AES-256-GCM, argon2id, CSRF, multi-tenant isolation</a:t>
            </a:r>
            <a:endParaRPr>
              <a:solidFill>
                <a:srgbClr val="1A1025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rgbClr val="1A1025"/>
                </a:solidFill>
                <a:latin typeface="Inter"/>
                <a:ea typeface="Calibri"/>
                <a:cs typeface="Calibri"/>
                <a:sym typeface="Calibri"/>
              </a:rPr>
              <a:t>192 passing tests across 58 files</a:t>
            </a:r>
            <a:endParaRPr>
              <a:solidFill>
                <a:srgbClr val="1A1025"/>
              </a:solidFill>
            </a:endParaRPr>
          </a:p>
        </p:txBody>
      </p:sp>
      <p:sp>
        <p:nvSpPr>
          <p:cNvPr id="903" name="Brand Accent Rule"/>
          <p:cNvSpPr/>
          <p:nvPr/>
        </p:nvSpPr>
        <p:spPr>
          <a:xfrm>
            <a:off x="457200" y="1409700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  <a:effectLst/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8E44AD"/>
                </a:solidFill>
                <a:latin typeface="Inter"/>
                <a:ea typeface="Calibri"/>
                <a:cs typeface="Calibri"/>
                <a:sym typeface="Calibri"/>
              </a:rPr>
              <a:t>How it works: architecture</a:t>
            </a:r>
            <a:endParaRPr b="1">
              <a:solidFill>
                <a:srgbClr val="8E44AD"/>
              </a:solidFill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457200" y="5852160"/>
            <a:ext cx="822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1A1025"/>
                </a:solidFill>
                <a:latin typeface="Inter"/>
                <a:ea typeface="Calibri"/>
                <a:cs typeface="Calibri"/>
                <a:sym typeface="Calibri"/>
              </a:rPr>
              <a:t>[Architecture diagram— web / worker / Postgres / Redis + Stellar testnet + Mock Anchor]</a:t>
            </a:r>
            <a:endParaRPr>
              <a:solidFill>
                <a:srgbClr val="1A1025"/>
              </a:solidFill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416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Brand Accent Rule"/>
          <p:cNvSpPr/>
          <p:nvPr/>
        </p:nvSpPr>
        <p:spPr>
          <a:xfrm>
            <a:off x="457200" y="1409700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  <a:effectLst/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8E44AD"/>
                </a:solidFill>
                <a:latin typeface="Inter"/>
                <a:ea typeface="Calibri"/>
                <a:cs typeface="Calibri"/>
                <a:sym typeface="Calibri"/>
              </a:rPr>
              <a:t>Impact &amp; market</a:t>
            </a:r>
            <a:endParaRPr b="1">
              <a:solidFill>
                <a:srgbClr val="8E44AD"/>
              </a:solidFill>
            </a:endParaRPr>
          </a:p>
        </p:txBody>
      </p:sp>
      <p:sp>
        <p:nvSpPr>
          <p:cNvPr id="133" name="Google Shape;133;p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rgbClr val="1A1025"/>
                </a:solidFill>
                <a:latin typeface="Inter"/>
                <a:ea typeface="Calibri"/>
                <a:cs typeface="Calibri"/>
                <a:sym typeface="Calibri"/>
              </a:rPr>
              <a:t>Buyers: stablecoin payroll &amp; vendor payments (USD→PHP first)</a:t>
            </a:r>
            <a:endParaRPr>
              <a:solidFill>
                <a:srgbClr val="1A1025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rgbClr val="1A1025"/>
                </a:solidFill>
                <a:latin typeface="Inter"/>
                <a:ea typeface="Calibri"/>
                <a:cs typeface="Calibri"/>
                <a:sym typeface="Calibri"/>
              </a:rPr>
              <a:t>Why now: category growing fast; tooling stops at 'send'</a:t>
            </a:r>
            <a:endParaRPr>
              <a:solidFill>
                <a:srgbClr val="1A1025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rgbClr val="1A1025"/>
                </a:solidFill>
                <a:latin typeface="Inter"/>
                <a:ea typeface="Calibri"/>
                <a:cs typeface="Calibri"/>
                <a:sym typeface="Calibri"/>
              </a:rPr>
              <a:t>Only Trexure: Stellar-native + ZK-private + reconciled</a:t>
            </a:r>
            <a:endParaRPr>
              <a:solidFill>
                <a:srgbClr val="1A1025"/>
              </a:solidFill>
            </a:endParaRPr>
          </a:p>
        </p:txBody>
      </p:sp>
      <p:sp>
        <p:nvSpPr>
          <p:cNvPr id="905" name="Brand Accent Rule"/>
          <p:cNvSpPr/>
          <p:nvPr/>
        </p:nvSpPr>
        <p:spPr>
          <a:xfrm>
            <a:off x="457200" y="1409700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  <a:effectLst/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8E44AD"/>
                </a:solidFill>
                <a:latin typeface="Inter"/>
                <a:ea typeface="Calibri"/>
                <a:cs typeface="Calibri"/>
                <a:sym typeface="Calibri"/>
              </a:rPr>
              <a:t>What's next</a:t>
            </a:r>
            <a:endParaRPr b="1">
              <a:solidFill>
                <a:srgbClr val="8E44AD"/>
              </a:solidFill>
            </a:endParaRPr>
          </a:p>
        </p:txBody>
      </p:sp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rgbClr val="1A1025"/>
                </a:solidFill>
                <a:latin typeface="Inter"/>
                <a:ea typeface="Calibri"/>
                <a:cs typeface="Calibri"/>
                <a:sym typeface="Calibri"/>
              </a:rPr>
              <a:t>Deploy shielded_transfer pool contract (verify already live)</a:t>
            </a:r>
            <a:endParaRPr>
              <a:solidFill>
                <a:srgbClr val="1A1025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rgbClr val="1A1025"/>
                </a:solidFill>
                <a:latin typeface="Inter"/>
                <a:ea typeface="Calibri"/>
                <a:cs typeface="Calibri"/>
                <a:sym typeface="Calibri"/>
              </a:rPr>
              <a:t>Richer ZK: note-based balances + nullifiers</a:t>
            </a:r>
            <a:endParaRPr>
              <a:solidFill>
                <a:srgbClr val="1A1025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rgbClr val="1A1025"/>
                </a:solidFill>
                <a:latin typeface="Inter"/>
                <a:ea typeface="Calibri"/>
                <a:cs typeface="Calibri"/>
                <a:sym typeface="Calibri"/>
              </a:rPr>
              <a:t>Swap Mock Anchor → live provider (e.g. Xendit)</a:t>
            </a:r>
            <a:endParaRPr>
              <a:solidFill>
                <a:srgbClr val="1A1025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rgbClr val="1A1025"/>
                </a:solidFill>
                <a:latin typeface="Inter"/>
                <a:ea typeface="Calibri"/>
                <a:cs typeface="Calibri"/>
                <a:sym typeface="Calibri"/>
              </a:rPr>
              <a:t>Multi-corridor support + admin/ops hardening</a:t>
            </a:r>
            <a:endParaRPr>
              <a:solidFill>
                <a:srgbClr val="1A1025"/>
              </a:solidFill>
            </a:endParaRPr>
          </a:p>
        </p:txBody>
      </p:sp>
      <p:sp>
        <p:nvSpPr>
          <p:cNvPr id="906" name="Brand Accent Rule"/>
          <p:cNvSpPr/>
          <p:nvPr/>
        </p:nvSpPr>
        <p:spPr>
          <a:xfrm>
            <a:off x="457200" y="1409700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025"/>
        </a:solidFill>
        <a:effectLst/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F2E9FB"/>
                </a:solidFill>
              </a:rPr>
              <a:t>Thank you!</a:t>
            </a:r>
            <a:endParaRPr b="1">
              <a:solidFill>
                <a:srgbClr val="F2E9FB"/>
              </a:solidFill>
            </a:endParaRPr>
          </a:p>
        </p:txBody>
      </p:sp>
      <p:sp>
        <p:nvSpPr>
          <p:cNvPr id="147" name="Google Shape;147;p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 b="1">
                <a:solidFill>
                  <a:srgbClr val="D4AF37"/>
                </a:solidFill>
                <a:hlinkClick r:id="rId3"/>
              </a:rPr>
              <a:t>mh@neri.ph</a:t>
            </a:r>
            <a:r>
              <a:rPr lang="en-US">
                <a:solidFill>
                  <a:srgbClr val="F2E9FB"/>
                </a:solidFill>
              </a:rPr>
              <a:t> (Artisam Labs)</a:t>
            </a:r>
            <a:endParaRPr>
              <a:solidFill>
                <a:srgbClr val="F2E9FB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rgbClr val="F2E9FB"/>
                </a:solidFill>
                <a:latin typeface="Inter"/>
                <a:ea typeface="Calibri"/>
                <a:cs typeface="Calibri"/>
                <a:sym typeface="Calibri"/>
              </a:rPr>
              <a:t>Built for </a:t>
            </a:r>
            <a:r>
              <a:rPr b="1" lang="en-US" sz="2400">
                <a:solidFill>
                  <a:srgbClr val="F2E9FB"/>
                </a:solidFill>
                <a:latin typeface="Inter"/>
                <a:ea typeface="Arial"/>
                <a:cs typeface="Arial"/>
                <a:sym typeface="Arial"/>
              </a:rPr>
              <a:t>Stellar Hacks: Real-World ZK</a:t>
            </a:r>
            <a:endParaRPr>
              <a:solidFill>
                <a:srgbClr val="F2E9FB"/>
              </a:solidFill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2E9FB"/>
              </a:solidFill>
            </a:endParaRPr>
          </a:p>
        </p:txBody>
      </p:sp>
      <p:sp>
        <p:nvSpPr>
          <p:cNvPr id="908" name="Brand Accent Rule"/>
          <p:cNvSpPr/>
          <p:nvPr/>
        </p:nvSpPr>
        <p:spPr>
          <a:xfrm>
            <a:off x="457200" y="1500000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1A1025"/>
      </a:dk1>
      <a:lt1>
        <a:srgbClr val="FFFFFF"/>
      </a:lt1>
      <a:dk2>
        <a:srgbClr val="2E1A47"/>
      </a:dk2>
      <a:lt2>
        <a:srgbClr val="F7F9FB"/>
      </a:lt2>
      <a:accent1>
        <a:srgbClr val="8E44AD"/>
      </a:accent1>
      <a:accent2>
        <a:srgbClr val="D4AF37"/>
      </a:accent2>
      <a:accent3>
        <a:srgbClr val="5B4A70"/>
      </a:accent3>
      <a:accent4>
        <a:srgbClr val="2E1A47"/>
      </a:accent4>
      <a:accent5>
        <a:srgbClr val="C9A24B"/>
      </a:accent5>
      <a:accent6>
        <a:srgbClr val="6C3E86"/>
      </a:accent6>
      <a:hlink>
        <a:srgbClr val="8E44AD"/>
      </a:hlink>
      <a:folHlink>
        <a:srgbClr val="5B4A7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